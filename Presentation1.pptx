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59" r:id="rId6"/>
    <p:sldId id="263" r:id="rId7"/>
    <p:sldId id="264" r:id="rId8"/>
    <p:sldId id="265" r:id="rId9"/>
    <p:sldId id="266" r:id="rId10"/>
    <p:sldId id="267" r:id="rId11"/>
    <p:sldId id="268" r:id="rId12"/>
    <p:sldId id="257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7AED-4967-A9A0-C44D-25386A391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0D9F43-0C48-9C92-7D97-5ABBE33942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5181-992B-207A-E989-2E89CF914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3195C-1167-D57F-C587-94568A0CA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63F04-F706-FD07-2F3B-6FDC8366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7416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D20D-979A-19DF-F8C4-1BF3543F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77A4-A747-ECEA-6793-7CC871D80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3C0F2-D92D-C802-C427-75100B712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6DF98-7CBC-061F-7D0E-715ED87E6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1D6FB-9B27-211F-8714-60EBFE0F3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7564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0EE4-26D2-0C4A-596B-7B26A3861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2168D-FF55-09FE-41DF-0DF9C5697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DCD60-6985-15BA-92E2-20A142891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5EE7A-4712-7FCB-CE46-01EE437B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AFA8C-6389-8AB3-24F9-EDF4D2C7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4457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B32A2-AE31-21A9-DFAC-7499B1EA2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ACBF5-5FD0-2370-2897-4AEB6D71D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FB129C-D475-3680-E24C-8C4A5621C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CC9EF-1B93-04EC-D69A-72F458D3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F8A71-FE7B-A310-3497-63824F7CE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67C66-8614-E3CA-7B51-1BD83C90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6392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2DA5E-1D6F-8117-7C04-F1D7B73BB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B3745-4C49-F8E4-E6AD-06A48ED0B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3AD44B-AC18-4197-8C9E-EE6B6E7ED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22803-35C0-951D-1BD8-C0407B20A4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598936-009C-1E80-9823-176A067DB3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63634B-108D-3804-42C5-EA317BDB3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49CB5D-910A-094D-3897-A80BD712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5842B3-58D5-FF98-70A9-95D66ED37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7818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E5A38-06C8-A0C8-B959-4519EF4E7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29FDC2-9DAD-CB06-B474-A98C8C8AB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B64B15-B089-48CB-52C6-C2307DE3C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86937-D7CD-1086-FFC0-0AD1B51C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462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D47AD-60B6-AE5F-75FE-061025F30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F96509-9116-486E-8C87-C1BB7834B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5769F-5653-2B0B-47FD-19588B1AE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2643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C625-1262-7A90-7437-F4912AFC9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26AD7-C00A-10BE-2B0D-238C97EA1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BBC2B9-DD3C-BADD-931C-B6BE274B2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0C84C-5C8C-C5A9-E620-32A8B0817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8F8150-A012-D4E5-FE4F-F5B19F8A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9A022-780B-3172-9F73-AE678495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8782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113F1-CA71-1FEB-A43A-6A20A1A71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D473DD-59B1-134D-EC10-B8BFD7ACA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CA501-9A89-C6BA-9D2B-DB270B600D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B265C-C68B-BC27-ABF2-B519A7E53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00E4-6E8A-B925-E4BB-4D6F11DF8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B6893-D2C8-8F76-B9B4-D42219931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0136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85E4-E61E-1FB1-4A00-B02794E3F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9BE0A9-9D91-3147-99C0-8EB7B9C554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0894-F130-3F47-DE99-BB509596C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DAB86-FDC2-0D2F-8B2F-F3C45A9D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2662D-C982-FAB8-AEB8-DC55AD6C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0904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5F6DE0-1F41-010D-79C5-C26F967381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D45F1-6660-FAF1-4287-F794A9801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D3CED-E030-DA8A-9353-7BBCBF8C5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C582-1C01-F5F1-851D-D106E2FB7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D5FFE-35B2-6E5E-7E0C-632F558C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1096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CDF54F-2148-11C6-34C8-28A3FBB20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8B26E-2BA4-E42A-9785-F91A157A9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E578B-3CA8-02B9-C08C-D0CC23C507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202B3-1060-482B-973A-1D7C2D430671}" type="datetimeFigureOut">
              <a:rPr lang="es-ES" smtClean="0"/>
              <a:t>26/08/2026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A3251-4D77-6942-7EAD-89C7075559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C2E25-9FAB-4AFB-D996-E1C01135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682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4B25F5A2-AD20-F903-517C-5645981A1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177277"/>
            <a:ext cx="10800000" cy="5155269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8F0C3-F94F-8153-873E-D8365560D820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MEDIDAS DE CENTRALIDAD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6C1246-5C3A-50E3-3EFE-4ABFC35B0D1D}"/>
              </a:ext>
            </a:extLst>
          </p:cNvPr>
          <p:cNvSpPr txBox="1"/>
          <p:nvPr/>
        </p:nvSpPr>
        <p:spPr>
          <a:xfrm>
            <a:off x="335902" y="5331276"/>
            <a:ext cx="99371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las distribución normal (y la t) todas las medidas de centralidad salvo una controlan el error tipo I.</a:t>
            </a:r>
          </a:p>
          <a:p>
            <a:r>
              <a:rPr lang="es-ES" dirty="0"/>
              <a:t>Para las distribución exponencial (y la </a:t>
            </a:r>
            <a:r>
              <a:rPr lang="es-ES" dirty="0" err="1"/>
              <a:t>lognormal</a:t>
            </a:r>
            <a:r>
              <a:rPr lang="es-ES" dirty="0"/>
              <a:t>) solo unas pocas medidas de centralidad controlan el error tipo I.</a:t>
            </a:r>
          </a:p>
        </p:txBody>
      </p:sp>
    </p:spTree>
    <p:extLst>
      <p:ext uri="{BB962C8B-B14F-4D97-AF65-F5344CB8AC3E}">
        <p14:creationId xmlns:p14="http://schemas.microsoft.com/office/powerpoint/2010/main" val="217657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328BA-77E7-508B-8500-9D023A3D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FF8234-CCF2-6394-F3CE-7E23DDA92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235966"/>
            <a:ext cx="10800000" cy="5335919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3B31C78-8F97-20A9-3ACE-1D2C8D920740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MEDIDAS DE CENTRALIDAD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6B7FD7-25E9-4DE1-13F3-E8456798EC73}"/>
              </a:ext>
            </a:extLst>
          </p:cNvPr>
          <p:cNvSpPr txBox="1"/>
          <p:nvPr/>
        </p:nvSpPr>
        <p:spPr>
          <a:xfrm>
            <a:off x="335902" y="5331276"/>
            <a:ext cx="99371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las distribución normal (y la t) todas las medidas de centralidad tienen la misma potencia.</a:t>
            </a:r>
          </a:p>
          <a:p>
            <a:r>
              <a:rPr lang="es-ES" dirty="0"/>
              <a:t>Para las distribución exponencial (y la </a:t>
            </a:r>
            <a:r>
              <a:rPr lang="es-ES" dirty="0" err="1"/>
              <a:t>lognormal</a:t>
            </a:r>
            <a:r>
              <a:rPr lang="es-ES" dirty="0"/>
              <a:t>) la media </a:t>
            </a:r>
            <a:r>
              <a:rPr lang="es-ES" dirty="0" err="1"/>
              <a:t>intercuartil</a:t>
            </a:r>
            <a:r>
              <a:rPr lang="es-ES" dirty="0"/>
              <a:t>, mediana y media de Tukey alcanzan potencias similares.</a:t>
            </a:r>
          </a:p>
          <a:p>
            <a:r>
              <a:rPr lang="es-ES" dirty="0"/>
              <a:t>Se selecciona la mediana para las siguientes pruebas.</a:t>
            </a:r>
          </a:p>
        </p:txBody>
      </p:sp>
    </p:spTree>
    <p:extLst>
      <p:ext uri="{BB962C8B-B14F-4D97-AF65-F5344CB8AC3E}">
        <p14:creationId xmlns:p14="http://schemas.microsoft.com/office/powerpoint/2010/main" val="2644697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3317C-6D97-551C-5B4B-CC77C1DE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FE34ED-E133-F835-3D97-6464C9DD0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235966"/>
            <a:ext cx="10800000" cy="4887057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1F1205F-12C0-3C37-C813-EF336C3C35EF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PRUEBAS DE LOCALIZACIÓN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392DBB-2D18-A984-1892-C92E6F9E8DF6}"/>
              </a:ext>
            </a:extLst>
          </p:cNvPr>
          <p:cNvSpPr txBox="1"/>
          <p:nvPr/>
        </p:nvSpPr>
        <p:spPr>
          <a:xfrm>
            <a:off x="335902" y="5331276"/>
            <a:ext cx="99371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las distribución normal (y la t) todas las pruebas logran controlar el error tipo I.</a:t>
            </a:r>
          </a:p>
          <a:p>
            <a:r>
              <a:rPr lang="es-ES" dirty="0"/>
              <a:t>Para las distribución exponencial (y la </a:t>
            </a:r>
            <a:r>
              <a:rPr lang="es-ES" dirty="0" err="1"/>
              <a:t>lognormalsolo</a:t>
            </a:r>
            <a:r>
              <a:rPr lang="es-ES" dirty="0"/>
              <a:t> el ANOVA, ANOVA por Permutación, ANOVA de Welch y ANOVA con transformación Raíz cuadrada logran controlar el error tipo I.</a:t>
            </a:r>
          </a:p>
        </p:txBody>
      </p:sp>
    </p:spTree>
    <p:extLst>
      <p:ext uri="{BB962C8B-B14F-4D97-AF65-F5344CB8AC3E}">
        <p14:creationId xmlns:p14="http://schemas.microsoft.com/office/powerpoint/2010/main" val="2133701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A106D-5AC3-606F-61E0-3A367F9C8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AF23CE-F2DA-15BD-FBB5-1B270E312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235966"/>
            <a:ext cx="10800000" cy="4887057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FDCB287-0ED8-0C6A-B9B8-5FBBF6B385D6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PRUEBAS DE LOCALIZACIÓN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1C9EC1-EC99-EDD4-F21F-AED5B1E4829A}"/>
              </a:ext>
            </a:extLst>
          </p:cNvPr>
          <p:cNvSpPr txBox="1"/>
          <p:nvPr/>
        </p:nvSpPr>
        <p:spPr>
          <a:xfrm>
            <a:off x="335902" y="5331276"/>
            <a:ext cx="99371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ANOVA, ANOVA por permutación y ANOVA con transformación raíz mantienen potencias relativamente elevadas comparadas con el resto de las pruebas que no controlaban el error tipo I.</a:t>
            </a:r>
            <a:br>
              <a:rPr lang="es-ES" dirty="0"/>
            </a:br>
            <a:r>
              <a:rPr lang="es-ES" dirty="0"/>
              <a:t>ANOVA de Welch demuestra una potencia menor.</a:t>
            </a:r>
          </a:p>
        </p:txBody>
      </p:sp>
    </p:spTree>
    <p:extLst>
      <p:ext uri="{BB962C8B-B14F-4D97-AF65-F5344CB8AC3E}">
        <p14:creationId xmlns:p14="http://schemas.microsoft.com/office/powerpoint/2010/main" val="2857589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57946-74F9-521E-BC60-EE76DC25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AE85F9B-5051-B21B-AB3C-46843FD56FFC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TAMAÑO MUESTRAL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F4FB35-E3B4-77BF-BF1F-FC36E8005C51}"/>
              </a:ext>
            </a:extLst>
          </p:cNvPr>
          <p:cNvSpPr txBox="1"/>
          <p:nvPr/>
        </p:nvSpPr>
        <p:spPr>
          <a:xfrm>
            <a:off x="335902" y="5331276"/>
            <a:ext cx="7268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la distribución normal y tamaños 8 o más todas las pruebas controlan el error tipo I.</a:t>
            </a:r>
          </a:p>
          <a:p>
            <a:r>
              <a:rPr lang="es-ES" dirty="0"/>
              <a:t>Para distribuciones asimétricas ANOVA y ANOVA por permutación presentan un mejor desempeño pero aún necesitan tamaño 8.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AD4E84-EE1D-D7B0-AE5B-06E7101A8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951722"/>
            <a:ext cx="10800000" cy="436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982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328BA-5F2B-647E-5A0A-31C56CBF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397C5DD-75C9-B39A-57CA-4D4B56D0E027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TAMAÑO MUESTRAL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11234D0-CF45-113F-3767-4F39B2DC0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66" y="963804"/>
            <a:ext cx="10800000" cy="436747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99D4F95-3D11-4C0E-992F-9B316BCA86AC}"/>
              </a:ext>
            </a:extLst>
          </p:cNvPr>
          <p:cNvSpPr txBox="1"/>
          <p:nvPr/>
        </p:nvSpPr>
        <p:spPr>
          <a:xfrm>
            <a:off x="335902" y="5331276"/>
            <a:ext cx="7268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Al incrementar el tamaño muestral incrementa también la potencia.</a:t>
            </a:r>
          </a:p>
          <a:p>
            <a:r>
              <a:rPr lang="es-ES" dirty="0"/>
              <a:t>El incremento es más veloz en las distribuciones simétricas.</a:t>
            </a:r>
          </a:p>
        </p:txBody>
      </p:sp>
    </p:spTree>
    <p:extLst>
      <p:ext uri="{BB962C8B-B14F-4D97-AF65-F5344CB8AC3E}">
        <p14:creationId xmlns:p14="http://schemas.microsoft.com/office/powerpoint/2010/main" val="997069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6CBC-7E7E-58A2-2156-50FEA48A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5A5DEA-6197-A301-8F21-9E6FE6A96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951722"/>
            <a:ext cx="10800000" cy="4367472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AFB4BEF-8B09-4F8A-99B6-7BBD9B8D3928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CANTIDAD DE GRUPOS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FE1912-AF45-EB12-60E3-BD508AE264D3}"/>
              </a:ext>
            </a:extLst>
          </p:cNvPr>
          <p:cNvSpPr txBox="1"/>
          <p:nvPr/>
        </p:nvSpPr>
        <p:spPr>
          <a:xfrm>
            <a:off x="335902" y="5331276"/>
            <a:ext cx="11062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distribuciones simétricas, al incrementarla cantidad de grupo las pruebas se vuelven más conservadoras.</a:t>
            </a:r>
          </a:p>
          <a:p>
            <a:r>
              <a:rPr lang="es-ES" dirty="0"/>
              <a:t>Para la distribución exponencial y más de 8 grupos solo el ANOVA y el ANOVA por permutación controlan el error tipo I.</a:t>
            </a:r>
          </a:p>
        </p:txBody>
      </p:sp>
    </p:spTree>
    <p:extLst>
      <p:ext uri="{BB962C8B-B14F-4D97-AF65-F5344CB8AC3E}">
        <p14:creationId xmlns:p14="http://schemas.microsoft.com/office/powerpoint/2010/main" val="588908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7C849-C99C-BFBE-8717-72583C3A6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AB7DBF7-5C3A-107D-3416-4E7AF843D183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CANTIDAD DE GRUPOS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9E1B7C-5B5B-FE51-C9CA-F114B31A93AE}"/>
              </a:ext>
            </a:extLst>
          </p:cNvPr>
          <p:cNvSpPr txBox="1"/>
          <p:nvPr/>
        </p:nvSpPr>
        <p:spPr>
          <a:xfrm>
            <a:off x="335902" y="5331276"/>
            <a:ext cx="11062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el ANOVA y ANOVA por permutación la potencia parece ser levemente mayor para entre 4 y 12 grupos.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44469-D48C-26C3-94F2-49E2523B2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963804"/>
            <a:ext cx="10800000" cy="436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876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A274-EF2F-651E-0539-307417BF2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3C1537-7D58-C522-4A4F-BEFEA35DEC0A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TAMAÑO DEL EFECTO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8759A3-0817-46F0-671E-2404A34FED23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 y ANOVA por permutación presentan mayor potencia que Welch.</a:t>
            </a:r>
          </a:p>
          <a:p>
            <a:r>
              <a:rPr lang="es-ES" dirty="0"/>
              <a:t>El 80% de potencia se alcanza para sigma = 2 en la distribución normal y cerca de sigma = 3 en la exponencial.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0AC850-8929-CAFE-E19E-820033EB6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963804"/>
            <a:ext cx="10800000" cy="436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943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854C-87ED-A41D-A12E-2EA7692E1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3FF6CE-AEFB-E894-2B5A-E47C84481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235966"/>
            <a:ext cx="10800000" cy="4887057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7577BBF-A278-4A91-47D3-3E655D59B003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DISTRIBUCIÓN DE LOS DESVÍOS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063F533-5E9F-9769-D8D4-ABACB746310E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En todos los casos cuando todos los desvíos son distintos la potencia disminuye. </a:t>
            </a:r>
          </a:p>
          <a:p>
            <a:r>
              <a:rPr lang="es-ES" dirty="0"/>
              <a:t>Cuando la mitad de los desvíos son diferentes, se observa una mayor potencia si hay al menos 8 grupos.</a:t>
            </a:r>
          </a:p>
        </p:txBody>
      </p:sp>
    </p:spTree>
    <p:extLst>
      <p:ext uri="{BB962C8B-B14F-4D97-AF65-F5344CB8AC3E}">
        <p14:creationId xmlns:p14="http://schemas.microsoft.com/office/powerpoint/2010/main" val="576229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15819-A07A-BD31-CAA4-043F6269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784E09-77B2-740C-1EF7-881085F3F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99" y="963804"/>
            <a:ext cx="10800000" cy="4367472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1D55FB-7153-30D1-6D2D-993EE906E3D7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VALORES ATÍPICOS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8666C98-4858-9753-0554-F9291C1A6894}"/>
              </a:ext>
            </a:extLst>
          </p:cNvPr>
          <p:cNvSpPr txBox="1"/>
          <p:nvPr/>
        </p:nvSpPr>
        <p:spPr>
          <a:xfrm>
            <a:off x="335902" y="5331276"/>
            <a:ext cx="11062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Ambas pruebas presentan comportamientos similares.</a:t>
            </a:r>
          </a:p>
          <a:p>
            <a:r>
              <a:rPr lang="es-ES" dirty="0"/>
              <a:t>Para tamaño N=20 se muestran robustos con contaminaciones de hasta 2%.</a:t>
            </a:r>
          </a:p>
          <a:p>
            <a:r>
              <a:rPr lang="es-ES" dirty="0"/>
              <a:t>Para tamaño N=40 el test es robusto para hasta 1%.</a:t>
            </a:r>
          </a:p>
        </p:txBody>
      </p:sp>
    </p:spTree>
    <p:extLst>
      <p:ext uri="{BB962C8B-B14F-4D97-AF65-F5344CB8AC3E}">
        <p14:creationId xmlns:p14="http://schemas.microsoft.com/office/powerpoint/2010/main" val="13644835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4DF4DF-15E4-1CA3-C428-2A89096DFE6F}"/>
              </a:ext>
            </a:extLst>
          </p:cNvPr>
          <p:cNvSpPr/>
          <p:nvPr/>
        </p:nvSpPr>
        <p:spPr>
          <a:xfrm>
            <a:off x="598899" y="235966"/>
            <a:ext cx="8489118" cy="715756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4000" dirty="0"/>
              <a:t>CONCLUSIÓN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FF6179-5903-81CE-DA31-75697CC784C4}"/>
              </a:ext>
            </a:extLst>
          </p:cNvPr>
          <p:cNvSpPr txBox="1"/>
          <p:nvPr/>
        </p:nvSpPr>
        <p:spPr>
          <a:xfrm>
            <a:off x="598899" y="1138335"/>
            <a:ext cx="111763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 mayoría de las medidas de centralidad y pruebas resultan apropiadas cuando la distribución original es robusta.</a:t>
            </a:r>
          </a:p>
          <a:p>
            <a:endParaRPr lang="es-ES" dirty="0"/>
          </a:p>
          <a:p>
            <a:r>
              <a:rPr lang="es-ES" dirty="0"/>
              <a:t>Sin embargo, se recomienda utilizar la mediana (u otra medida robusta) debido a que resulta adecuada para en distribuciones asimétricas y presenta la misma potencia que la media en distribuciones simétricas.</a:t>
            </a:r>
          </a:p>
          <a:p>
            <a:endParaRPr lang="es-ES" dirty="0"/>
          </a:p>
          <a:p>
            <a:r>
              <a:rPr lang="es-ES" dirty="0"/>
              <a:t>De entre las 11 pruebas consideradas solo el ANOVA y el ANOVA por permutación lograron controlar el error tipo I para distintos tamaños muestrales (N&gt;=8) y cantidad de grupos (k  entre 2 y 20).</a:t>
            </a:r>
          </a:p>
          <a:p>
            <a:endParaRPr lang="es-ES" dirty="0"/>
          </a:p>
          <a:p>
            <a:r>
              <a:rPr lang="es-ES" dirty="0"/>
              <a:t>Las pruebas, para un tamaño N=20, alcanzan el 80% de potencia para </a:t>
            </a:r>
          </a:p>
          <a:p>
            <a:endParaRPr lang="es-ES" dirty="0"/>
          </a:p>
          <a:p>
            <a:r>
              <a:rPr lang="es-ES" dirty="0"/>
              <a:t>Las pruebas incrementan su potencia cuando la mitad de los grupo poseen un desvío común y la otra mitad otro. </a:t>
            </a:r>
          </a:p>
          <a:p>
            <a:endParaRPr lang="es-ES" dirty="0"/>
          </a:p>
          <a:p>
            <a:r>
              <a:rPr lang="es-ES" dirty="0"/>
              <a:t>La potencia de las pruebas disminuye mucho cuando todos los grupos tienen desvíos diferentes.</a:t>
            </a:r>
          </a:p>
          <a:p>
            <a:endParaRPr lang="es-ES" dirty="0"/>
          </a:p>
          <a:p>
            <a:r>
              <a:rPr lang="es-ES" dirty="0"/>
              <a:t>Las pruebas no son robustos frente a valores atípicos y se conjetura que tampoco frente a diferencias distribucionales. </a:t>
            </a:r>
          </a:p>
        </p:txBody>
      </p:sp>
    </p:spTree>
    <p:extLst>
      <p:ext uri="{BB962C8B-B14F-4D97-AF65-F5344CB8AC3E}">
        <p14:creationId xmlns:p14="http://schemas.microsoft.com/office/powerpoint/2010/main" val="1504449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2340</TotalTime>
  <Words>597</Words>
  <Application>Microsoft Office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Eduardo Andres Villarruel</dc:creator>
  <cp:lastModifiedBy>Eduardo Andres Villarruel</cp:lastModifiedBy>
  <cp:revision>1</cp:revision>
  <dcterms:created xsi:type="dcterms:W3CDTF">2026-09-03T00:57:25Z</dcterms:created>
  <dcterms:modified xsi:type="dcterms:W3CDTF">2026-09-04T15:58:21Z</dcterms:modified>
</cp:coreProperties>
</file>