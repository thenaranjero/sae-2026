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5" r:id="rId2"/>
    <p:sldId id="327" r:id="rId3"/>
    <p:sldId id="316" r:id="rId4"/>
    <p:sldId id="318" r:id="rId5"/>
    <p:sldId id="320" r:id="rId6"/>
    <p:sldId id="271" r:id="rId7"/>
    <p:sldId id="290" r:id="rId8"/>
    <p:sldId id="256" r:id="rId9"/>
    <p:sldId id="260" r:id="rId10"/>
    <p:sldId id="259" r:id="rId11"/>
    <p:sldId id="264" r:id="rId12"/>
    <p:sldId id="266" r:id="rId13"/>
    <p:sldId id="273" r:id="rId14"/>
    <p:sldId id="267" r:id="rId15"/>
    <p:sldId id="268" r:id="rId16"/>
    <p:sldId id="257" r:id="rId17"/>
    <p:sldId id="328" r:id="rId1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7AED-4967-A9A0-C44D-25386A391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0D9F43-0C48-9C92-7D97-5ABBE33942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5181-992B-207A-E989-2E89CF914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E3195C-1167-D57F-C587-94568A0CA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763F04-F706-FD07-2F3B-6FDC8366E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87416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D20D-979A-19DF-F8C4-1BF3543F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E77A4-A747-ECEA-6793-7CC871D80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A3C0F2-D92D-C802-C427-75100B712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6DF98-7CBC-061F-7D0E-715ED87E6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F1D6FB-9B27-211F-8714-60EBFE0F3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97564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10EE4-26D2-0C4A-596B-7B26A3861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72168D-FF55-09FE-41DF-0DF9C56977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DCD60-6985-15BA-92E2-20A142891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5EE7A-4712-7FCB-CE46-01EE437B8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AFA8C-6389-8AB3-24F9-EDF4D2C79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34457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B32A2-AE31-21A9-DFAC-7499B1EA2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ACBF5-5FD0-2370-2897-4AEB6D71D4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FB129C-D475-3680-E24C-8C4A5621C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CC9EF-1B93-04EC-D69A-72F458D32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F8A71-FE7B-A310-3497-63824F7CE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167C66-8614-E3CA-7B51-1BD83C90F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76392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2DA5E-1D6F-8117-7C04-F1D7B73BB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B3745-4C49-F8E4-E6AD-06A48ED0B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3AD44B-AC18-4197-8C9E-EE6B6E7ED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322803-35C0-951D-1BD8-C0407B20A4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598936-009C-1E80-9823-176A067DB3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63634B-108D-3804-42C5-EA317BDB3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49CB5D-910A-094D-3897-A80BD7127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5842B3-58D5-FF98-70A9-95D66ED37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7818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E5A38-06C8-A0C8-B959-4519EF4E7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29FDC2-9DAD-CB06-B474-A98C8C8AB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B64B15-B089-48CB-52C6-C2307DE3C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286937-D7CD-1086-FFC0-0AD1B51CF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84622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8D47AD-60B6-AE5F-75FE-061025F30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F96509-9116-486E-8C87-C1BB7834B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5769F-5653-2B0B-47FD-19588B1AE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2643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3C625-1262-7A90-7437-F4912AFC9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26AD7-C00A-10BE-2B0D-238C97EA1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BBC2B9-DD3C-BADD-931C-B6BE274B2D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0C84C-5C8C-C5A9-E620-32A8B08173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8F8150-A012-D4E5-FE4F-F5B19F8A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9A022-780B-3172-9F73-AE6784953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48782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113F1-CA71-1FEB-A43A-6A20A1A71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3D473DD-59B1-134D-EC10-B8BFD7ACA6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1CA501-9A89-C6BA-9D2B-DB270B600D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7B265C-C68B-BC27-ABF2-B519A7E53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3D00E4-6E8A-B925-E4BB-4D6F11DF8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B6893-D2C8-8F76-B9B4-D42219931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201362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D85E4-E61E-1FB1-4A00-B02794E3F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9BE0A9-9D91-3147-99C0-8EB7B9C554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80894-F130-3F47-DE99-BB509596C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DAB86-FDC2-0D2F-8B2F-F3C45A9D4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72662D-C982-FAB8-AEB8-DC55AD6CE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0904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5F6DE0-1F41-010D-79C5-C26F967381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CD45F1-6660-FAF1-4287-F794A98017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D3CED-E030-DA8A-9353-7BBCBF8C5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9202B3-1060-482B-973A-1D7C2D430671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8C582-1C01-F5F1-851D-D106E2FB7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D5FFE-35B2-6E5E-7E0C-632F558C5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91096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CDF54F-2148-11C6-34C8-28A3FBB20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B8B26E-2BA4-E42A-9785-F91A157A9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E578B-3CA8-02B9-C08C-D0CC23C507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9202B3-1060-482B-973A-1D7C2D430671}" type="datetimeFigureOut">
              <a:rPr lang="es-ES" smtClean="0"/>
              <a:t>13/09/2026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1A3251-4D77-6942-7EAD-89C7075559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C2E25-9FAB-4AFB-D996-E1C01135CD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9B3992-D310-426A-B9DB-276A967878A1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682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2">
            <a:extLst>
              <a:ext uri="{FF2B5EF4-FFF2-40B4-BE49-F238E27FC236}">
                <a16:creationId xmlns:a16="http://schemas.microsoft.com/office/drawing/2014/main" id="{77B8E498-AB61-74D3-5099-FF445AC2B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7628" y="1866900"/>
            <a:ext cx="3743325" cy="31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36F686-52BD-E805-00C0-1C71EF7407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0600" y="230919"/>
            <a:ext cx="10330800" cy="1635981"/>
          </a:xfrm>
        </p:spPr>
        <p:txBody>
          <a:bodyPr>
            <a:normAutofit/>
          </a:bodyPr>
          <a:lstStyle/>
          <a:p>
            <a:r>
              <a:rPr lang="es-ES" sz="4000" b="1" dirty="0">
                <a:latin typeface="Atkinson Hyperlegible" pitchFamily="2" charset="0"/>
              </a:rPr>
              <a:t>UN ESTUDIO SOBRE LA PRUEBA DE LEVENE Y ALGUNAS DE SUS VARIANTES</a:t>
            </a:r>
            <a:endParaRPr lang="es-ES" sz="4000" dirty="0">
              <a:latin typeface="Atkinson Hyperlegible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54692-DC9D-CED9-5E93-253EBD73B8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1175" y="5019068"/>
            <a:ext cx="11243387" cy="1655762"/>
          </a:xfrm>
        </p:spPr>
        <p:txBody>
          <a:bodyPr>
            <a:normAutofit/>
          </a:bodyPr>
          <a:lstStyle/>
          <a:p>
            <a:pPr algn="l"/>
            <a:r>
              <a:rPr lang="es-ES" sz="1800" dirty="0"/>
              <a:t> 		</a:t>
            </a:r>
            <a:endParaRPr lang="es-ES" sz="1800" dirty="0">
              <a:effectLst/>
            </a:endParaRPr>
          </a:p>
          <a:p>
            <a:r>
              <a:rPr lang="es-ES" sz="2800" dirty="0"/>
              <a:t> Mg. </a:t>
            </a:r>
            <a:r>
              <a:rPr lang="es-ES" sz="2800" dirty="0" err="1"/>
              <a:t>Bussi</a:t>
            </a:r>
            <a:r>
              <a:rPr lang="es-ES" sz="2800" dirty="0"/>
              <a:t>, Javier            Lic. </a:t>
            </a:r>
            <a:r>
              <a:rPr lang="es-ES" sz="2800" dirty="0" err="1"/>
              <a:t>Capretto</a:t>
            </a:r>
            <a:r>
              <a:rPr lang="es-ES" sz="2800" dirty="0"/>
              <a:t>, Tomás          Lic. Villarruel, Eduardo A.</a:t>
            </a:r>
            <a:endParaRPr lang="es-ES" sz="2800" dirty="0">
              <a:effectLst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0C9BD98-C415-8C4C-47A5-042F3B24CCE6}"/>
              </a:ext>
            </a:extLst>
          </p:cNvPr>
          <p:cNvSpPr/>
          <p:nvPr/>
        </p:nvSpPr>
        <p:spPr>
          <a:xfrm>
            <a:off x="6469220" y="2251788"/>
            <a:ext cx="3601617" cy="278985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SAE LOGO</a:t>
            </a:r>
          </a:p>
        </p:txBody>
      </p:sp>
    </p:spTree>
    <p:extLst>
      <p:ext uri="{BB962C8B-B14F-4D97-AF65-F5344CB8AC3E}">
        <p14:creationId xmlns:p14="http://schemas.microsoft.com/office/powerpoint/2010/main" val="1069442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33403-2C37-EC0A-C935-296A5DE67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C89A0EC-5321-DB25-1968-824E3949A0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4AB1646-CCC2-8CC2-D517-7758F47011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0600" y="230919"/>
            <a:ext cx="10330800" cy="1635981"/>
          </a:xfrm>
        </p:spPr>
        <p:txBody>
          <a:bodyPr>
            <a:normAutofit/>
          </a:bodyPr>
          <a:lstStyle/>
          <a:p>
            <a:r>
              <a:rPr lang="es-ES" sz="4000" b="1" dirty="0">
                <a:solidFill>
                  <a:schemeClr val="accent5"/>
                </a:solidFill>
                <a:latin typeface="Atkinson Hyperlegible" pitchFamily="2" charset="0"/>
              </a:rPr>
              <a:t>UN ESTUDIO SOBRE LA PRUEBA DE LEVENE Y ALGUNAS DE SUS VARIANTES</a:t>
            </a:r>
            <a:endParaRPr lang="es-ES" sz="4000" dirty="0">
              <a:solidFill>
                <a:schemeClr val="accent5"/>
              </a:solidFill>
              <a:latin typeface="Atkinson Hyperlegibl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8489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06CF1-2614-839A-FFE4-F91FD047C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D49E2CC1-C1A2-D869-3E9E-9F629474CE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93CE140-B609-DEF3-A018-E5D146331530}"/>
              </a:ext>
            </a:extLst>
          </p:cNvPr>
          <p:cNvSpPr txBox="1">
            <a:spLocks/>
          </p:cNvSpPr>
          <p:nvPr/>
        </p:nvSpPr>
        <p:spPr>
          <a:xfrm>
            <a:off x="1666875" y="2868632"/>
            <a:ext cx="5270500" cy="1082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s-ES" dirty="0">
              <a:latin typeface="Atkinson Hyperlegible" pitchFamily="2" charset="0"/>
            </a:endParaRPr>
          </a:p>
        </p:txBody>
      </p:sp>
      <p:sp>
        <p:nvSpPr>
          <p:cNvPr id="16" name="Rectangle: Diagonal Corners Snipped 15">
            <a:extLst>
              <a:ext uri="{FF2B5EF4-FFF2-40B4-BE49-F238E27FC236}">
                <a16:creationId xmlns:a16="http://schemas.microsoft.com/office/drawing/2014/main" id="{0CBBD6F2-DA67-2F75-43CA-1858C07F5007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MOTIVACIÓN</a:t>
            </a:r>
            <a:endParaRPr lang="es-ES" sz="4000" b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D78786A-B281-AEC7-310A-F4C6A3E79ABB}"/>
              </a:ext>
            </a:extLst>
          </p:cNvPr>
          <p:cNvSpPr/>
          <p:nvPr/>
        </p:nvSpPr>
        <p:spPr>
          <a:xfrm>
            <a:off x="464400" y="1295400"/>
            <a:ext cx="5400000" cy="809625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tkinson Hyperlegible" pitchFamily="2" charset="0"/>
              </a:rPr>
              <a:t>EL PROBLEMA DE LA IGUALDAD DE VARIANCIAS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705F8F-9DEE-0285-5385-B6D0C4A02B88}"/>
              </a:ext>
            </a:extLst>
          </p:cNvPr>
          <p:cNvSpPr txBox="1"/>
          <p:nvPr/>
        </p:nvSpPr>
        <p:spPr>
          <a:xfrm>
            <a:off x="464400" y="2520000"/>
            <a:ext cx="51603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s-ES" sz="2000" dirty="0">
                <a:latin typeface="Atkinson Hyperlegible" pitchFamily="2" charset="0"/>
              </a:rPr>
              <a:t>Hipótesis de interés.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A06EDE-794D-1E3C-3732-AB968A91D928}"/>
              </a:ext>
            </a:extLst>
          </p:cNvPr>
          <p:cNvSpPr txBox="1"/>
          <p:nvPr/>
        </p:nvSpPr>
        <p:spPr>
          <a:xfrm>
            <a:off x="464400" y="3239347"/>
            <a:ext cx="51603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s-ES" sz="2000" dirty="0">
                <a:latin typeface="Atkinson Hyperlegible" pitchFamily="2" charset="0"/>
              </a:rPr>
              <a:t>Supuesto de varios modelos y pruebas.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s-ES" sz="2000" dirty="0">
              <a:latin typeface="Atkinson Hyperlegible" pitchFamily="2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6B914E4-24CB-7A3F-5CBE-B3CE11F04AF9}"/>
              </a:ext>
            </a:extLst>
          </p:cNvPr>
          <p:cNvSpPr/>
          <p:nvPr/>
        </p:nvSpPr>
        <p:spPr>
          <a:xfrm>
            <a:off x="6334125" y="1314450"/>
            <a:ext cx="5400000" cy="809625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latin typeface="Atkinson Hyperlegible" pitchFamily="2" charset="0"/>
              </a:rPr>
              <a:t>ENFOQUES CLÁSICOS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57580B-35F2-E75D-7F01-DD6CB1A552ED}"/>
              </a:ext>
            </a:extLst>
          </p:cNvPr>
          <p:cNvSpPr txBox="1"/>
          <p:nvPr/>
        </p:nvSpPr>
        <p:spPr>
          <a:xfrm>
            <a:off x="6328800" y="3240000"/>
            <a:ext cx="51603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s-ES" sz="2000" dirty="0">
                <a:latin typeface="Atkinson Hyperlegible" pitchFamily="2" charset="0"/>
              </a:rPr>
              <a:t>Requieren normalidad.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697AD2-353F-00C1-CFD3-C1B4B095C11B}"/>
                  </a:ext>
                </a:extLst>
              </p:cNvPr>
              <p:cNvSpPr txBox="1"/>
              <p:nvPr/>
            </p:nvSpPr>
            <p:spPr>
              <a:xfrm>
                <a:off x="6328800" y="2520000"/>
                <a:ext cx="482644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s-ES" sz="2000" b="0" i="1" dirty="0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s-ES" sz="2000" i="1" dirty="0" smtClean="0">
                        <a:latin typeface="Cambria Math" panose="02040503050406030204" pitchFamily="18" charset="0"/>
                      </a:rPr>
                      <m:t>⁡</m:t>
                    </m:r>
                  </m:oMath>
                </a14:m>
                <a:r>
                  <a:rPr lang="es-ES" sz="2000" dirty="0">
                    <a:latin typeface="Atkinson Hyperlegible" pitchFamily="2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s-ES" sz="2000" b="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s-ES" sz="2000" dirty="0">
                    <a:latin typeface="Atkinson Hyperlegible" pitchFamily="2" charset="0"/>
                  </a:rPr>
                  <a:t> de </a:t>
                </a:r>
                <a:r>
                  <a:rPr lang="es-ES" sz="2000" dirty="0" err="1">
                    <a:latin typeface="Atkinson Hyperlegible" pitchFamily="2" charset="0"/>
                  </a:rPr>
                  <a:t>Cochram</a:t>
                </a:r>
                <a:r>
                  <a:rPr lang="es-ES" sz="2000" dirty="0">
                    <a:latin typeface="Atkinson Hyperlegible" pitchFamily="2" charset="0"/>
                  </a:rPr>
                  <a:t>, </a:t>
                </a:r>
                <a:r>
                  <a:rPr lang="es-ES" sz="2000" dirty="0" err="1">
                    <a:latin typeface="Atkinson Hyperlegible" pitchFamily="2" charset="0"/>
                  </a:rPr>
                  <a:t>Barlett</a:t>
                </a:r>
                <a:endParaRPr lang="es-ES" sz="2000" dirty="0">
                  <a:latin typeface="Atkinson Hyperlegible" pitchFamily="2" charset="0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3697AD2-353F-00C1-CFD3-C1B4B095C1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8800" y="2520000"/>
                <a:ext cx="4826442" cy="400110"/>
              </a:xfrm>
              <a:prstGeom prst="rect">
                <a:avLst/>
              </a:prstGeom>
              <a:blipFill>
                <a:blip r:embed="rId3"/>
                <a:stretch>
                  <a:fillRect l="-1136" t="-6061" b="-2727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EF72D21-9399-C716-3453-0C160F391250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FA9AE7A-3FBB-21AC-269E-0288BBBAE227}"/>
              </a:ext>
            </a:extLst>
          </p:cNvPr>
          <p:cNvSpPr/>
          <p:nvPr/>
        </p:nvSpPr>
        <p:spPr>
          <a:xfrm>
            <a:off x="7613780" y="0"/>
            <a:ext cx="1791477" cy="7837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LOGO UNR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9F4C7E-096A-2743-F6F3-4C534B8458F5}"/>
              </a:ext>
            </a:extLst>
          </p:cNvPr>
          <p:cNvSpPr/>
          <p:nvPr/>
        </p:nvSpPr>
        <p:spPr>
          <a:xfrm>
            <a:off x="9818914" y="50680"/>
            <a:ext cx="1791477" cy="7837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LOGO SAE</a:t>
            </a:r>
          </a:p>
        </p:txBody>
      </p:sp>
    </p:spTree>
    <p:extLst>
      <p:ext uri="{BB962C8B-B14F-4D97-AF65-F5344CB8AC3E}">
        <p14:creationId xmlns:p14="http://schemas.microsoft.com/office/powerpoint/2010/main" val="399641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1D773-0FD0-D338-5D7C-D1AFA2F73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EBA881-3A64-511D-CCA9-30B030C262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12" name="Cross 11">
            <a:extLst>
              <a:ext uri="{FF2B5EF4-FFF2-40B4-BE49-F238E27FC236}">
                <a16:creationId xmlns:a16="http://schemas.microsoft.com/office/drawing/2014/main" id="{56236AAD-DEEF-DFA5-30B7-8043941AB600}"/>
              </a:ext>
            </a:extLst>
          </p:cNvPr>
          <p:cNvSpPr/>
          <p:nvPr/>
        </p:nvSpPr>
        <p:spPr>
          <a:xfrm>
            <a:off x="5435166" y="2819589"/>
            <a:ext cx="1029809" cy="958789"/>
          </a:xfrm>
          <a:prstGeom prst="plus">
            <a:avLst>
              <a:gd name="adj" fmla="val 40466"/>
            </a:avLst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800" b="1">
              <a:latin typeface="Atkinson Hyperlegible" pitchFamily="2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0726FBEF-23B4-CF0B-95D8-8FDBD85E6420}"/>
              </a:ext>
            </a:extLst>
          </p:cNvPr>
          <p:cNvSpPr/>
          <p:nvPr/>
        </p:nvSpPr>
        <p:spPr>
          <a:xfrm>
            <a:off x="2577420" y="4503825"/>
            <a:ext cx="865800" cy="720000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2800" b="1">
              <a:latin typeface="Atkinson Hyperlegible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774BC7-E834-30FE-B626-135ECF37136F}"/>
              </a:ext>
            </a:extLst>
          </p:cNvPr>
          <p:cNvSpPr txBox="1"/>
          <p:nvPr/>
        </p:nvSpPr>
        <p:spPr>
          <a:xfrm>
            <a:off x="7424184" y="3880463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¿Normalidad?</a:t>
            </a:r>
          </a:p>
        </p:txBody>
      </p:sp>
      <p:sp>
        <p:nvSpPr>
          <p:cNvPr id="22" name="Rectangle: Diagonal Corners Snipped 21">
            <a:extLst>
              <a:ext uri="{FF2B5EF4-FFF2-40B4-BE49-F238E27FC236}">
                <a16:creationId xmlns:a16="http://schemas.microsoft.com/office/drawing/2014/main" id="{2099A43E-238F-911A-EB44-01517D32F450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MOTIVACIÓN</a:t>
            </a:r>
            <a:endParaRPr lang="es-ES" sz="4000" b="1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5B67335-A2A2-0CB2-1E11-CE205AB84C26}"/>
              </a:ext>
            </a:extLst>
          </p:cNvPr>
          <p:cNvSpPr/>
          <p:nvPr/>
        </p:nvSpPr>
        <p:spPr>
          <a:xfrm>
            <a:off x="3106859" y="1296000"/>
            <a:ext cx="5686425" cy="809625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latin typeface="Atkinson Hyperlegible" pitchFamily="2" charset="0"/>
              </a:rPr>
              <a:t>LEVENE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CC532DB-97F3-5343-37D1-262A44B881C6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81D2031-7951-E680-24DD-2B01EF5A1D0C}"/>
                  </a:ext>
                </a:extLst>
              </p:cNvPr>
              <p:cNvSpPr txBox="1"/>
              <p:nvPr/>
            </p:nvSpPr>
            <p:spPr>
              <a:xfrm>
                <a:off x="1864265" y="3090020"/>
                <a:ext cx="2284087" cy="4112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sz="2400" b="1" i="1" smtClean="0">
                          <a:latin typeface="Cambria Math" panose="02040503050406030204" pitchFamily="18" charset="0"/>
                        </a:rPr>
                        <m:t>=| </m:t>
                      </m:r>
                      <m:sSub>
                        <m:sSubPr>
                          <m:ctrlPr>
                            <a:rPr lang="es-ES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sz="2400" b="1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ES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s-E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" sz="2400" b="1" i="1" smtClean="0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</m:acc>
                        </m:e>
                        <m:sub>
                          <m:r>
                            <a:rPr lang="es-ES" sz="2400" b="1" i="1" smtClean="0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s-ES" sz="2400" b="1" i="1" smtClean="0">
                          <a:latin typeface="Cambria Math" panose="02040503050406030204" pitchFamily="18" charset="0"/>
                        </a:rPr>
                        <m:t> |</m:t>
                      </m:r>
                    </m:oMath>
                  </m:oMathPara>
                </a14:m>
                <a:endParaRPr lang="es-ES" sz="2400" b="1" dirty="0">
                  <a:latin typeface="Atkinson Hyperlegible" pitchFamily="2" charset="0"/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81D2031-7951-E680-24DD-2B01EF5A1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265" y="3090020"/>
                <a:ext cx="2284087" cy="411203"/>
              </a:xfrm>
              <a:prstGeom prst="rect">
                <a:avLst/>
              </a:prstGeom>
              <a:blipFill>
                <a:blip r:embed="rId3"/>
                <a:stretch>
                  <a:fillRect l="-2133" t="-1493" r="-9867" b="-2537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BE51FA39-2FCF-F745-C759-94A6356A69A8}"/>
              </a:ext>
            </a:extLst>
          </p:cNvPr>
          <p:cNvSpPr txBox="1"/>
          <p:nvPr/>
        </p:nvSpPr>
        <p:spPr>
          <a:xfrm>
            <a:off x="7786747" y="2945901"/>
            <a:ext cx="21977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dirty="0">
                <a:solidFill>
                  <a:schemeClr val="accent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tkinson Hyperlegible" pitchFamily="2" charset="0"/>
              </a:rPr>
              <a:t>ANOVA</a:t>
            </a:r>
            <a:endParaRPr lang="es-ES" sz="4000" b="1" dirty="0">
              <a:solidFill>
                <a:schemeClr val="accent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tkinson Hyperlegible" pitchFamily="2" charset="0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F0970B17-16C2-1E1B-074D-1BB0D1680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35" y="4323825"/>
            <a:ext cx="1671100" cy="108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59A37D76-799F-50D7-292B-3DDA194E38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4505" y="4323600"/>
            <a:ext cx="1664308" cy="108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8497E98-25C2-BC08-E926-7B23E860BE96}"/>
              </a:ext>
            </a:extLst>
          </p:cNvPr>
          <p:cNvSpPr txBox="1"/>
          <p:nvPr/>
        </p:nvSpPr>
        <p:spPr>
          <a:xfrm>
            <a:off x="7424184" y="4281630"/>
            <a:ext cx="3410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¿Distribuciones asimétricas?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147D73-12B5-D133-AD08-D2DC42924615}"/>
              </a:ext>
            </a:extLst>
          </p:cNvPr>
          <p:cNvSpPr txBox="1"/>
          <p:nvPr/>
        </p:nvSpPr>
        <p:spPr>
          <a:xfrm>
            <a:off x="7424184" y="4682797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¿Muestras pequeñas?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EC0039-DA68-8E13-B37D-E43382F96313}"/>
              </a:ext>
            </a:extLst>
          </p:cNvPr>
          <p:cNvSpPr txBox="1"/>
          <p:nvPr/>
        </p:nvSpPr>
        <p:spPr>
          <a:xfrm>
            <a:off x="7424183" y="5083964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¿Múltiples grupos?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7E3A1B2-1F05-F20D-1048-DE53F2C4BFA4}"/>
              </a:ext>
            </a:extLst>
          </p:cNvPr>
          <p:cNvSpPr txBox="1"/>
          <p:nvPr/>
        </p:nvSpPr>
        <p:spPr>
          <a:xfrm>
            <a:off x="7424183" y="5485131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¿Valores atípicos?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9A0863-D709-32FA-BF41-765A757ADA5A}"/>
              </a:ext>
            </a:extLst>
          </p:cNvPr>
          <p:cNvSpPr txBox="1"/>
          <p:nvPr/>
        </p:nvSpPr>
        <p:spPr>
          <a:xfrm>
            <a:off x="7436622" y="5824145"/>
            <a:ext cx="2831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/>
              <a:t>¿Potencia?</a:t>
            </a:r>
          </a:p>
        </p:txBody>
      </p:sp>
    </p:spTree>
    <p:extLst>
      <p:ext uri="{BB962C8B-B14F-4D97-AF65-F5344CB8AC3E}">
        <p14:creationId xmlns:p14="http://schemas.microsoft.com/office/powerpoint/2010/main" val="2811189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19" grpId="0"/>
      <p:bldP spid="34" grpId="0"/>
      <p:bldP spid="35" grpId="0"/>
      <p:bldP spid="42" grpId="0"/>
      <p:bldP spid="43" grpId="0"/>
      <p:bldP spid="44" grpId="0"/>
      <p:bldP spid="45" grpId="0"/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6F336-C47C-B26F-2802-61ED4BB12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CC9A92C-A4D1-EC9C-2CE8-A873CCBE72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E7C848-78C0-B029-17E3-630A16696A4E}"/>
                  </a:ext>
                </a:extLst>
              </p:cNvPr>
              <p:cNvSpPr txBox="1"/>
              <p:nvPr/>
            </p:nvSpPr>
            <p:spPr>
              <a:xfrm>
                <a:off x="461756" y="3009100"/>
                <a:ext cx="5396129" cy="3083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=| </m:t>
                      </m:r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s-E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" b="1" i="1" smtClean="0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</m:acc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|</m:t>
                      </m:r>
                    </m:oMath>
                  </m:oMathPara>
                </a14:m>
                <a:endParaRPr lang="es-ES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E7C848-78C0-B029-17E3-630A16696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756" y="3009100"/>
                <a:ext cx="5396129" cy="308354"/>
              </a:xfrm>
              <a:prstGeom prst="rect">
                <a:avLst/>
              </a:prstGeom>
              <a:blipFill>
                <a:blip r:embed="rId3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21EBBDA-2FAA-B77E-8A59-2CC4DCF6D0B5}"/>
              </a:ext>
            </a:extLst>
          </p:cNvPr>
          <p:cNvSpPr txBox="1"/>
          <p:nvPr/>
        </p:nvSpPr>
        <p:spPr>
          <a:xfrm>
            <a:off x="461757" y="2256196"/>
            <a:ext cx="53961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Se calculan los desvíos absolutos de la </a:t>
            </a:r>
            <a:r>
              <a:rPr lang="es-ES" b="1" dirty="0"/>
              <a:t>media aritmética</a:t>
            </a:r>
            <a:r>
              <a:rPr lang="es-ES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4DDFE9-B4B7-2FA3-D6D0-89496D93874B}"/>
              </a:ext>
            </a:extLst>
          </p:cNvPr>
          <p:cNvSpPr txBox="1"/>
          <p:nvPr/>
        </p:nvSpPr>
        <p:spPr>
          <a:xfrm>
            <a:off x="468270" y="4758184"/>
            <a:ext cx="5396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Luego se aplica la prueba </a:t>
            </a:r>
            <a:r>
              <a:rPr lang="es-ES" b="1" dirty="0"/>
              <a:t>ANOVA</a:t>
            </a:r>
            <a:r>
              <a:rPr lang="es-ES" dirty="0"/>
              <a:t> sobre los desvíos absolutos muestrales.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E15034-7C71-5D64-E98D-702E80D1C6E4}"/>
                  </a:ext>
                </a:extLst>
              </p:cNvPr>
              <p:cNvSpPr txBox="1"/>
              <p:nvPr/>
            </p:nvSpPr>
            <p:spPr>
              <a:xfrm>
                <a:off x="468270" y="3405100"/>
                <a:ext cx="5396129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s-ES" dirty="0"/>
                  <a:t> es la observación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s-ES" dirty="0"/>
                  <a:t> de la muestra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8E15034-7C71-5D64-E98D-702E80D1C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270" y="3405100"/>
                <a:ext cx="5396129" cy="391646"/>
              </a:xfrm>
              <a:prstGeom prst="rect">
                <a:avLst/>
              </a:prstGeom>
              <a:blipFill>
                <a:blip r:embed="rId4"/>
                <a:stretch>
                  <a:fillRect l="-791" t="-7813" b="-2031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1A45A6-AE53-800F-9B9F-6FF28518075D}"/>
                  </a:ext>
                </a:extLst>
              </p:cNvPr>
              <p:cNvSpPr txBox="1"/>
              <p:nvPr/>
            </p:nvSpPr>
            <p:spPr>
              <a:xfrm>
                <a:off x="468270" y="3887500"/>
                <a:ext cx="5396129" cy="3967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s-ES" dirty="0"/>
                  <a:t> es la media aritmética muestral de la muestra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1A45A6-AE53-800F-9B9F-6FF285180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270" y="3887500"/>
                <a:ext cx="5396129" cy="396712"/>
              </a:xfrm>
              <a:prstGeom prst="rect">
                <a:avLst/>
              </a:prstGeom>
              <a:blipFill>
                <a:blip r:embed="rId5"/>
                <a:stretch>
                  <a:fillRect l="-791" t="-7692" b="-1846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FC90BFD4-69CE-BBF5-B256-ED772CD3C8E8}"/>
              </a:ext>
            </a:extLst>
          </p:cNvPr>
          <p:cNvSpPr txBox="1"/>
          <p:nvPr/>
        </p:nvSpPr>
        <p:spPr>
          <a:xfrm>
            <a:off x="6328801" y="2256196"/>
            <a:ext cx="5399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Se calculan los desvíos absolutos de alguna </a:t>
            </a:r>
            <a:r>
              <a:rPr lang="es-ES" b="1" dirty="0"/>
              <a:t>medida de </a:t>
            </a:r>
          </a:p>
          <a:p>
            <a:r>
              <a:rPr lang="es-ES" b="1" dirty="0"/>
              <a:t>centralidad.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9AA9EF6-F09C-2FD3-2C5B-BC1AB90E2136}"/>
                  </a:ext>
                </a:extLst>
              </p:cNvPr>
              <p:cNvSpPr txBox="1"/>
              <p:nvPr/>
            </p:nvSpPr>
            <p:spPr>
              <a:xfrm>
                <a:off x="6321856" y="3008637"/>
                <a:ext cx="5406944" cy="3032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𝒁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=| </m:t>
                      </m:r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𝒊𝒋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E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𝑴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|</m:t>
                      </m:r>
                    </m:oMath>
                  </m:oMathPara>
                </a14:m>
                <a:endParaRPr lang="es-ES" b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9AA9EF6-F09C-2FD3-2C5B-BC1AB90E2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856" y="3008637"/>
                <a:ext cx="5406944" cy="303288"/>
              </a:xfrm>
              <a:prstGeom prst="rect">
                <a:avLst/>
              </a:prstGeom>
              <a:blipFill>
                <a:blip r:embed="rId6"/>
                <a:stretch>
                  <a:fillRect t="-2041" b="-2653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E99E77-4E57-A9DF-41D1-1D626913E9A7}"/>
                  </a:ext>
                </a:extLst>
              </p:cNvPr>
              <p:cNvSpPr txBox="1"/>
              <p:nvPr/>
            </p:nvSpPr>
            <p:spPr>
              <a:xfrm>
                <a:off x="6328800" y="3403700"/>
                <a:ext cx="5406944" cy="3916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s-ES" dirty="0"/>
                  <a:t> es la observación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s-ES" dirty="0"/>
                  <a:t> de la muestra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AE99E77-4E57-A9DF-41D1-1D626913E9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8800" y="3403700"/>
                <a:ext cx="5406944" cy="391646"/>
              </a:xfrm>
              <a:prstGeom prst="rect">
                <a:avLst/>
              </a:prstGeom>
              <a:blipFill>
                <a:blip r:embed="rId7"/>
                <a:stretch>
                  <a:fillRect l="-676" t="-6154" b="-18462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63E770-EF4C-71FE-A61F-0BCC60207014}"/>
                  </a:ext>
                </a:extLst>
              </p:cNvPr>
              <p:cNvSpPr txBox="1"/>
              <p:nvPr/>
            </p:nvSpPr>
            <p:spPr>
              <a:xfrm>
                <a:off x="6328800" y="3887766"/>
                <a:ext cx="5383101" cy="6686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s-ES" dirty="0"/>
                  <a:t> es la medida de centralidad muestral de la muestra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63E770-EF4C-71FE-A61F-0BCC60207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8800" y="3887766"/>
                <a:ext cx="5383101" cy="668645"/>
              </a:xfrm>
              <a:prstGeom prst="rect">
                <a:avLst/>
              </a:prstGeom>
              <a:blipFill>
                <a:blip r:embed="rId8"/>
                <a:stretch>
                  <a:fillRect l="-680" t="-4587" b="-1467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C9C6386-04B0-1450-8F13-C68897D98A86}"/>
              </a:ext>
            </a:extLst>
          </p:cNvPr>
          <p:cNvSpPr txBox="1"/>
          <p:nvPr/>
        </p:nvSpPr>
        <p:spPr>
          <a:xfrm>
            <a:off x="6339525" y="4758183"/>
            <a:ext cx="53788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Luego se aplica una </a:t>
            </a:r>
            <a:r>
              <a:rPr lang="es-ES" b="1" dirty="0"/>
              <a:t>prueba de localización </a:t>
            </a:r>
            <a:r>
              <a:rPr lang="es-ES" dirty="0"/>
              <a:t>sobre los desvíos absolutos muestrales.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7C7859A-9BCA-7181-A5E9-0E0A548F9185}"/>
              </a:ext>
            </a:extLst>
          </p:cNvPr>
          <p:cNvSpPr/>
          <p:nvPr/>
        </p:nvSpPr>
        <p:spPr>
          <a:xfrm>
            <a:off x="464400" y="1080000"/>
            <a:ext cx="5400000" cy="809625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tkinson Hyperlegible" pitchFamily="2" charset="0"/>
              </a:rPr>
              <a:t>PRUEBA ORIGINAL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A3208DF-0C7C-CBDE-BA88-6FD69461192D}"/>
              </a:ext>
            </a:extLst>
          </p:cNvPr>
          <p:cNvSpPr/>
          <p:nvPr/>
        </p:nvSpPr>
        <p:spPr>
          <a:xfrm>
            <a:off x="6328800" y="1080000"/>
            <a:ext cx="5400000" cy="809625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>
                <a:latin typeface="Atkinson Hyperlegible" pitchFamily="2" charset="0"/>
              </a:rPr>
              <a:t>GENERALIZACIÓN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FCC85B0-7899-C530-ECA3-74F721F809B2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1982450" cy="9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Diagonal Corners Snipped 23">
            <a:extLst>
              <a:ext uri="{FF2B5EF4-FFF2-40B4-BE49-F238E27FC236}">
                <a16:creationId xmlns:a16="http://schemas.microsoft.com/office/drawing/2014/main" id="{A9EB3E6D-7275-C656-99FE-329B9CCAFF60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PRUEBAS TIPO-LEVENE</a:t>
            </a:r>
            <a:endParaRPr lang="es-ES" sz="4000" b="1" dirty="0"/>
          </a:p>
        </p:txBody>
      </p:sp>
    </p:spTree>
    <p:extLst>
      <p:ext uri="{BB962C8B-B14F-4D97-AF65-F5344CB8AC3E}">
        <p14:creationId xmlns:p14="http://schemas.microsoft.com/office/powerpoint/2010/main" val="2322364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94508-A309-A15A-17D9-4E487E4D3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14A36668-AC78-A802-F4AC-D737A20D3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9A5D37-4879-AFA9-B838-054E354AEB07}"/>
              </a:ext>
            </a:extLst>
          </p:cNvPr>
          <p:cNvSpPr txBox="1"/>
          <p:nvPr/>
        </p:nvSpPr>
        <p:spPr>
          <a:xfrm>
            <a:off x="6263949" y="2299993"/>
            <a:ext cx="9579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ANOVA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714EF7-CBB3-36DD-AF1F-9DB6CF83B413}"/>
              </a:ext>
            </a:extLst>
          </p:cNvPr>
          <p:cNvSpPr txBox="1"/>
          <p:nvPr/>
        </p:nvSpPr>
        <p:spPr>
          <a:xfrm>
            <a:off x="6263949" y="2867605"/>
            <a:ext cx="2684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ANOVA por Permutación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2DB968-4D26-A5E0-8D42-141AD7F20251}"/>
              </a:ext>
            </a:extLst>
          </p:cNvPr>
          <p:cNvSpPr txBox="1"/>
          <p:nvPr/>
        </p:nvSpPr>
        <p:spPr>
          <a:xfrm>
            <a:off x="6263949" y="3433181"/>
            <a:ext cx="2684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/>
              <a:t>Kruskall</a:t>
            </a:r>
            <a:r>
              <a:rPr lang="es-ES" dirty="0"/>
              <a:t> Wallis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0C38F1-F8EB-32F2-305E-553A5A4022FA}"/>
              </a:ext>
            </a:extLst>
          </p:cNvPr>
          <p:cNvSpPr txBox="1"/>
          <p:nvPr/>
        </p:nvSpPr>
        <p:spPr>
          <a:xfrm>
            <a:off x="1056443" y="2156150"/>
            <a:ext cx="3627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0D1886-B905-839C-6FFC-86A7AFC1A909}"/>
              </a:ext>
            </a:extLst>
          </p:cNvPr>
          <p:cNvSpPr txBox="1"/>
          <p:nvPr/>
        </p:nvSpPr>
        <p:spPr>
          <a:xfrm>
            <a:off x="1056443" y="2899289"/>
            <a:ext cx="1556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L-Estimadores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B89D0D-FFA9-C208-4F9C-7CD94424605C}"/>
              </a:ext>
            </a:extLst>
          </p:cNvPr>
          <p:cNvSpPr txBox="1"/>
          <p:nvPr/>
        </p:nvSpPr>
        <p:spPr>
          <a:xfrm>
            <a:off x="2802294" y="2525482"/>
            <a:ext cx="2040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 Modificada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EE9A4-0DFB-88A6-0843-AEF0C61E53D0}"/>
              </a:ext>
            </a:extLst>
          </p:cNvPr>
          <p:cNvSpPr txBox="1"/>
          <p:nvPr/>
        </p:nvSpPr>
        <p:spPr>
          <a:xfrm>
            <a:off x="2802294" y="2903663"/>
            <a:ext cx="2040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 </a:t>
            </a:r>
            <a:r>
              <a:rPr lang="es-ES" dirty="0" err="1"/>
              <a:t>Intercuartil</a:t>
            </a:r>
            <a:endParaRPr lang="es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D244CF-6EDF-5B3D-73E0-2C94D0BDF386}"/>
              </a:ext>
            </a:extLst>
          </p:cNvPr>
          <p:cNvSpPr txBox="1"/>
          <p:nvPr/>
        </p:nvSpPr>
        <p:spPr>
          <a:xfrm>
            <a:off x="2802294" y="3268621"/>
            <a:ext cx="2040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Mediana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7720C9-28F5-8FE3-27CA-593F4B5195D8}"/>
              </a:ext>
            </a:extLst>
          </p:cNvPr>
          <p:cNvSpPr txBox="1"/>
          <p:nvPr/>
        </p:nvSpPr>
        <p:spPr>
          <a:xfrm>
            <a:off x="1056442" y="3905240"/>
            <a:ext cx="174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M-Estimadores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CE01C9-8B9C-55DB-4FE3-69244CE0969E}"/>
              </a:ext>
            </a:extLst>
          </p:cNvPr>
          <p:cNvSpPr txBox="1"/>
          <p:nvPr/>
        </p:nvSpPr>
        <p:spPr>
          <a:xfrm>
            <a:off x="2802293" y="3928467"/>
            <a:ext cx="284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Media Bicuadrada de Tukey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5E1EB-C415-8AFF-9393-5F893E99D59D}"/>
                  </a:ext>
                </a:extLst>
              </p:cNvPr>
              <p:cNvSpPr txBox="1"/>
              <p:nvPr/>
            </p:nvSpPr>
            <p:spPr>
              <a:xfrm>
                <a:off x="9458131" y="2335378"/>
                <a:ext cx="20402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E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…=</m:t>
                      </m:r>
                      <m:r>
                        <a:rPr lang="es-ES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5E1EB-C415-8AFF-9393-5F893E99D5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8131" y="2335378"/>
                <a:ext cx="2040294" cy="369332"/>
              </a:xfrm>
              <a:prstGeom prst="rect">
                <a:avLst/>
              </a:prstGeom>
              <a:blipFill>
                <a:blip r:embed="rId3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5FF01D2-1A71-4BD1-DA84-59C9F002F11F}"/>
                  </a:ext>
                </a:extLst>
              </p:cNvPr>
              <p:cNvSpPr txBox="1"/>
              <p:nvPr/>
            </p:nvSpPr>
            <p:spPr>
              <a:xfrm>
                <a:off x="9389706" y="3433181"/>
                <a:ext cx="20402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…=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𝜂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5FF01D2-1A71-4BD1-DA84-59C9F002F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9706" y="3433181"/>
                <a:ext cx="2040294" cy="369332"/>
              </a:xfrm>
              <a:prstGeom prst="rect">
                <a:avLst/>
              </a:prstGeom>
              <a:blipFill>
                <a:blip r:embed="rId4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AD68C2-7533-64B4-8663-1C423162919F}"/>
                  </a:ext>
                </a:extLst>
              </p:cNvPr>
              <p:cNvSpPr txBox="1"/>
              <p:nvPr/>
            </p:nvSpPr>
            <p:spPr>
              <a:xfrm>
                <a:off x="9458131" y="2867605"/>
                <a:ext cx="20402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  <m:r>
                        <a:rPr lang="es-E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…=</m:t>
                      </m:r>
                      <m:r>
                        <a:rPr lang="es-E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ℱ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AD68C2-7533-64B4-8663-1C4231629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8131" y="2867605"/>
                <a:ext cx="2040294" cy="369332"/>
              </a:xfrm>
              <a:prstGeom prst="rect">
                <a:avLst/>
              </a:prstGeom>
              <a:blipFill>
                <a:blip r:embed="rId5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586C57DC-FC3A-5D51-7E1F-1C7C6BE9C80D}"/>
              </a:ext>
            </a:extLst>
          </p:cNvPr>
          <p:cNvSpPr/>
          <p:nvPr/>
        </p:nvSpPr>
        <p:spPr>
          <a:xfrm>
            <a:off x="3293706" y="5066522"/>
            <a:ext cx="5794311" cy="1352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VIÑETA EN CONSTRUCCION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201004D-1362-CD97-4C3D-367CA39B0B8F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1982450" cy="95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Diagonal Corners Snipped 23">
            <a:extLst>
              <a:ext uri="{FF2B5EF4-FFF2-40B4-BE49-F238E27FC236}">
                <a16:creationId xmlns:a16="http://schemas.microsoft.com/office/drawing/2014/main" id="{65E7469F-05E5-5D4E-09BB-3E8756C3F60E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PRUEBAS TIPO-LEVENE</a:t>
            </a:r>
            <a:endParaRPr lang="es-ES" sz="40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22A74C-22D1-C826-F6A5-67D5B045AB03}"/>
              </a:ext>
            </a:extLst>
          </p:cNvPr>
          <p:cNvSpPr txBox="1"/>
          <p:nvPr/>
        </p:nvSpPr>
        <p:spPr>
          <a:xfrm>
            <a:off x="1212980" y="1334278"/>
            <a:ext cx="32283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MEDIDAS DE CENTRALIDAD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0E9E4E-4531-242F-DB08-1146690B7553}"/>
              </a:ext>
            </a:extLst>
          </p:cNvPr>
          <p:cNvSpPr txBox="1"/>
          <p:nvPr/>
        </p:nvSpPr>
        <p:spPr>
          <a:xfrm>
            <a:off x="7473821" y="1318727"/>
            <a:ext cx="32283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PRUEBAS DE LOCALIZACIÓN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AEE415-F781-5CA8-4970-1243BA4A90A6}"/>
              </a:ext>
            </a:extLst>
          </p:cNvPr>
          <p:cNvSpPr txBox="1"/>
          <p:nvPr/>
        </p:nvSpPr>
        <p:spPr>
          <a:xfrm>
            <a:off x="6403906" y="4061778"/>
            <a:ext cx="2684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Otras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1057FC-47F0-BF7C-D0FB-653D7F1E32D2}"/>
              </a:ext>
            </a:extLst>
          </p:cNvPr>
          <p:cNvSpPr txBox="1"/>
          <p:nvPr/>
        </p:nvSpPr>
        <p:spPr>
          <a:xfrm>
            <a:off x="9389706" y="4060297"/>
            <a:ext cx="2684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Listar los 8 </a:t>
            </a:r>
            <a:r>
              <a:rPr lang="es-ES" dirty="0" err="1"/>
              <a:t>tests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84138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1D4A-EA40-1E7B-6889-D93F48D4F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EEBCA4F-20EA-AF7F-D0A3-63B2EE589A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8D0C60A-C148-7F4C-8B71-3D379FD99B2A}"/>
              </a:ext>
            </a:extLst>
          </p:cNvPr>
          <p:cNvSpPr/>
          <p:nvPr/>
        </p:nvSpPr>
        <p:spPr>
          <a:xfrm>
            <a:off x="349491" y="1228629"/>
            <a:ext cx="216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DESVÍO ESTANDAR</a:t>
            </a:r>
          </a:p>
          <a:p>
            <a:pPr algn="ctr"/>
            <a:r>
              <a:rPr lang="es-ES" b="1" dirty="0">
                <a:latin typeface="Atkinson Hyperlegible" pitchFamily="2" charset="0"/>
              </a:rPr>
              <a:t>POBLACIONAL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75C970A-F1B4-99F1-B9B5-BF52C59C7C57}"/>
              </a:ext>
            </a:extLst>
          </p:cNvPr>
          <p:cNvSpPr/>
          <p:nvPr/>
        </p:nvSpPr>
        <p:spPr>
          <a:xfrm>
            <a:off x="3511037" y="1229903"/>
            <a:ext cx="216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DISTRIBUCIÓN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656831C-CB97-D6DF-38D3-F8919EE3A187}"/>
              </a:ext>
            </a:extLst>
          </p:cNvPr>
          <p:cNvSpPr/>
          <p:nvPr/>
        </p:nvSpPr>
        <p:spPr>
          <a:xfrm>
            <a:off x="9528984" y="1228629"/>
            <a:ext cx="216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CANTIDAD</a:t>
            </a:r>
          </a:p>
          <a:p>
            <a:pPr algn="ctr"/>
            <a:r>
              <a:rPr lang="es-ES" b="1" dirty="0">
                <a:latin typeface="Atkinson Hyperlegible" pitchFamily="2" charset="0"/>
              </a:rPr>
              <a:t>DE GRUPOS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2BB0C28-A273-180B-CAA2-B25FB757F390}"/>
              </a:ext>
            </a:extLst>
          </p:cNvPr>
          <p:cNvSpPr/>
          <p:nvPr/>
        </p:nvSpPr>
        <p:spPr>
          <a:xfrm>
            <a:off x="900000" y="3585127"/>
            <a:ext cx="252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REPETIR 10.000 VECES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13D889D-7C82-192F-5450-F0AD08473160}"/>
              </a:ext>
            </a:extLst>
          </p:cNvPr>
          <p:cNvSpPr/>
          <p:nvPr/>
        </p:nvSpPr>
        <p:spPr>
          <a:xfrm>
            <a:off x="4963731" y="3585127"/>
            <a:ext cx="252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PRUEBA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492BFDF-9CCF-A231-CD75-E0116262CCC7}"/>
              </a:ext>
            </a:extLst>
          </p:cNvPr>
          <p:cNvSpPr/>
          <p:nvPr/>
        </p:nvSpPr>
        <p:spPr>
          <a:xfrm>
            <a:off x="8772000" y="3585127"/>
            <a:ext cx="252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MEDIDA DE CENTRALIDAD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9783595-EE4D-77C4-6436-0AD1968CEEF3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1982450" cy="9525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Diagonal Corners Snipped 41">
            <a:extLst>
              <a:ext uri="{FF2B5EF4-FFF2-40B4-BE49-F238E27FC236}">
                <a16:creationId xmlns:a16="http://schemas.microsoft.com/office/drawing/2014/main" id="{9E2846E5-351B-7523-4A0D-8B27B66DB182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METODOLOGÍA</a:t>
            </a:r>
            <a:endParaRPr lang="es-ES" sz="40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7FF3B8-978A-1737-F1A4-DC95C8B46AD9}"/>
                  </a:ext>
                </a:extLst>
              </p:cNvPr>
              <p:cNvSpPr txBox="1"/>
              <p:nvPr/>
            </p:nvSpPr>
            <p:spPr>
              <a:xfrm>
                <a:off x="311111" y="2101936"/>
                <a:ext cx="324111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v"/>
                </a:pPr>
                <a:r>
                  <a:rPr lang="es-ES" dirty="0">
                    <a:latin typeface="Atkinson Hyperlegible" pitchFamily="2" charset="0"/>
                  </a:rPr>
                  <a:t>Error tipo I: </a:t>
                </a:r>
                <a:br>
                  <a:rPr lang="es-ES" dirty="0">
                    <a:latin typeface="Atkinson Hyperlegible" pitchFamily="2" charset="0"/>
                  </a:rPr>
                </a:br>
                <a14:m>
                  <m:oMath xmlns:m="http://schemas.openxmlformats.org/officeDocument/2006/math">
                    <m:r>
                      <a:rPr lang="es-ES" b="1" i="0" smtClean="0">
                        <a:latin typeface="Cambria Math" panose="02040503050406030204" pitchFamily="18" charset="0"/>
                      </a:rPr>
                      <m:t>  </m:t>
                    </m:r>
                    <m:sSub>
                      <m:sSubPr>
                        <m:ctrlPr>
                          <a:rPr lang="es-E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s-ES" b="1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b="1" i="1" smtClean="0">
                        <a:latin typeface="Cambria Math" panose="02040503050406030204" pitchFamily="18" charset="0"/>
                      </a:rPr>
                      <m:t>…</m:t>
                    </m:r>
                    <m:r>
                      <a:rPr lang="es-ES" b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1" i="1"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s-ES" b="1" i="1" smtClean="0">
                            <a:latin typeface="Cambria Math" panose="02040503050406030204" pitchFamily="18" charset="0"/>
                          </a:rPr>
                          <m:t>𝑲</m:t>
                        </m:r>
                      </m:sub>
                    </m:sSub>
                    <m:r>
                      <a:rPr lang="es-ES" b="1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s-ES" b="1" i="1" smtClean="0">
                        <a:latin typeface="Cambria Math" panose="02040503050406030204" pitchFamily="18" charset="0"/>
                      </a:rPr>
                      <m:t>   </m:t>
                    </m:r>
                  </m:oMath>
                </a14:m>
                <a:endParaRPr lang="es-ES" b="1" dirty="0"/>
              </a:p>
              <a:p>
                <a:pPr marL="285750" indent="-285750">
                  <a:buFont typeface="Wingdings" panose="05000000000000000000" pitchFamily="2" charset="2"/>
                  <a:buChar char="v"/>
                </a:pPr>
                <a:r>
                  <a:rPr lang="es-ES" dirty="0">
                    <a:latin typeface="Atkinson Hyperlegible" pitchFamily="2" charset="0"/>
                  </a:rPr>
                  <a:t>Potencia: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s-ES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                    </m:t>
                      </m:r>
                      <m:r>
                        <a:rPr lang="es-ES" b="1" i="1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s-ES" b="1" i="1" dirty="0">
                  <a:latin typeface="Cambria Math" panose="020405030504060302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s-ES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es-ES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1" i="1">
                              <a:latin typeface="Cambria Math" panose="02040503050406030204" pitchFamily="18" charset="0"/>
                            </a:rPr>
                            <m:t>𝝈</m:t>
                          </m:r>
                        </m:e>
                        <m:sub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𝑲</m:t>
                          </m:r>
                        </m:sub>
                      </m:sSub>
                      <m:r>
                        <a:rPr lang="es-ES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b="1" i="1"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s-ES" sz="1400" b="1" dirty="0">
                  <a:latin typeface="Atkinson Hyperlegible" pitchFamily="2" charset="0"/>
                </a:endParaRPr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D57FF3B8-978A-1737-F1A4-DC95C8B46A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111" y="2101936"/>
                <a:ext cx="3241116" cy="1477328"/>
              </a:xfrm>
              <a:prstGeom prst="rect">
                <a:avLst/>
              </a:prstGeom>
              <a:blipFill>
                <a:blip r:embed="rId3"/>
                <a:stretch>
                  <a:fillRect l="-1128" t="-247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extBox 48">
            <a:extLst>
              <a:ext uri="{FF2B5EF4-FFF2-40B4-BE49-F238E27FC236}">
                <a16:creationId xmlns:a16="http://schemas.microsoft.com/office/drawing/2014/main" id="{5BF1882A-DA34-81ED-D23E-84B5F826318A}"/>
              </a:ext>
            </a:extLst>
          </p:cNvPr>
          <p:cNvSpPr txBox="1"/>
          <p:nvPr/>
        </p:nvSpPr>
        <p:spPr>
          <a:xfrm>
            <a:off x="3968840" y="2178076"/>
            <a:ext cx="212509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Normal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s-ES" dirty="0">
              <a:latin typeface="Atkinson Hyperlegible" pitchFamily="2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Exponencial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s-ES" dirty="0">
              <a:latin typeface="Atkinson Hyperlegible" pitchFamily="2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sz="1600" dirty="0">
                <a:latin typeface="Atkinson Hyperlegible" pitchFamily="2" charset="0"/>
              </a:rPr>
              <a:t>Otras…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E07DC3-4A85-CE64-86EF-53861D06525D}"/>
              </a:ext>
            </a:extLst>
          </p:cNvPr>
          <p:cNvSpPr txBox="1"/>
          <p:nvPr/>
        </p:nvSpPr>
        <p:spPr>
          <a:xfrm>
            <a:off x="6537617" y="2185864"/>
            <a:ext cx="2603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n = 20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A2C8F9-A2BF-D028-2941-14E7EE43F465}"/>
              </a:ext>
            </a:extLst>
          </p:cNvPr>
          <p:cNvSpPr txBox="1"/>
          <p:nvPr/>
        </p:nvSpPr>
        <p:spPr>
          <a:xfrm>
            <a:off x="6561762" y="2990221"/>
            <a:ext cx="2423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n = 4, 8, 12, … , 40</a:t>
            </a:r>
            <a:endParaRPr lang="es-ES" sz="1600" dirty="0">
              <a:latin typeface="Atkinson Hyperlegible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D35B28-4765-1783-7824-4647D03C7D21}"/>
              </a:ext>
            </a:extLst>
          </p:cNvPr>
          <p:cNvSpPr txBox="1"/>
          <p:nvPr/>
        </p:nvSpPr>
        <p:spPr>
          <a:xfrm>
            <a:off x="4563663" y="4656496"/>
            <a:ext cx="3457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ANOVA clásico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C63DA5-5ED4-120D-660C-A7AB028AA032}"/>
              </a:ext>
            </a:extLst>
          </p:cNvPr>
          <p:cNvSpPr txBox="1"/>
          <p:nvPr/>
        </p:nvSpPr>
        <p:spPr>
          <a:xfrm>
            <a:off x="4540443" y="5474195"/>
            <a:ext cx="2741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Kruskal-Wallis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0D0A6E9E-271E-2B65-BCB1-A70E71F70E18}"/>
              </a:ext>
            </a:extLst>
          </p:cNvPr>
          <p:cNvSpPr/>
          <p:nvPr/>
        </p:nvSpPr>
        <p:spPr>
          <a:xfrm>
            <a:off x="2819576" y="1567029"/>
            <a:ext cx="4320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4825C618-239D-D34C-1FC1-F7DA6C207BF9}"/>
              </a:ext>
            </a:extLst>
          </p:cNvPr>
          <p:cNvSpPr/>
          <p:nvPr/>
        </p:nvSpPr>
        <p:spPr>
          <a:xfrm>
            <a:off x="5991299" y="1567029"/>
            <a:ext cx="4500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F7ECD039-4188-3761-98EB-6C26D6C5D325}"/>
              </a:ext>
            </a:extLst>
          </p:cNvPr>
          <p:cNvSpPr/>
          <p:nvPr/>
        </p:nvSpPr>
        <p:spPr>
          <a:xfrm flipH="1">
            <a:off x="7802107" y="3923505"/>
            <a:ext cx="7056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E15EBA15-635D-7CD0-6401-03EDAF263E15}"/>
              </a:ext>
            </a:extLst>
          </p:cNvPr>
          <p:cNvSpPr/>
          <p:nvPr/>
        </p:nvSpPr>
        <p:spPr>
          <a:xfrm flipH="1">
            <a:off x="3744000" y="3923499"/>
            <a:ext cx="7056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86E046-1122-3CB8-FEC9-D8DF140624D2}"/>
              </a:ext>
            </a:extLst>
          </p:cNvPr>
          <p:cNvSpPr txBox="1"/>
          <p:nvPr/>
        </p:nvSpPr>
        <p:spPr>
          <a:xfrm>
            <a:off x="6537613" y="2583900"/>
            <a:ext cx="2603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n = 40 (chequeado)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BECCC5-26C8-1AD1-D6E7-AA8319637D50}"/>
              </a:ext>
            </a:extLst>
          </p:cNvPr>
          <p:cNvSpPr txBox="1"/>
          <p:nvPr/>
        </p:nvSpPr>
        <p:spPr>
          <a:xfrm>
            <a:off x="4540443" y="5064259"/>
            <a:ext cx="33430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ANOVA por permutación</a:t>
            </a:r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45A69B58-C1AF-908A-1379-19081855DD39}"/>
              </a:ext>
            </a:extLst>
          </p:cNvPr>
          <p:cNvSpPr/>
          <p:nvPr/>
        </p:nvSpPr>
        <p:spPr>
          <a:xfrm flipH="1">
            <a:off x="11351779" y="3931161"/>
            <a:ext cx="480221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74D0051-32A2-4118-D4E9-E63023636A2B}"/>
              </a:ext>
            </a:extLst>
          </p:cNvPr>
          <p:cNvSpPr/>
          <p:nvPr/>
        </p:nvSpPr>
        <p:spPr>
          <a:xfrm>
            <a:off x="11832000" y="2295331"/>
            <a:ext cx="220800" cy="1907717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5F7456D-B68B-ABBE-D953-71A26BAA63FA}"/>
              </a:ext>
            </a:extLst>
          </p:cNvPr>
          <p:cNvSpPr/>
          <p:nvPr/>
        </p:nvSpPr>
        <p:spPr>
          <a:xfrm>
            <a:off x="6664381" y="1206687"/>
            <a:ext cx="2160000" cy="900000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Atkinson Hyperlegible" pitchFamily="2" charset="0"/>
              </a:rPr>
              <a:t>TAMAÑO MUESTRAL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B2E03-5615-77DA-C415-29F35DEA83DC}"/>
              </a:ext>
            </a:extLst>
          </p:cNvPr>
          <p:cNvSpPr txBox="1"/>
          <p:nvPr/>
        </p:nvSpPr>
        <p:spPr>
          <a:xfrm>
            <a:off x="9392909" y="2214568"/>
            <a:ext cx="28278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k = 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5BC791-4CA7-9722-E94B-82B73C9804C8}"/>
              </a:ext>
            </a:extLst>
          </p:cNvPr>
          <p:cNvSpPr txBox="1"/>
          <p:nvPr/>
        </p:nvSpPr>
        <p:spPr>
          <a:xfrm>
            <a:off x="9417054" y="3018925"/>
            <a:ext cx="2423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k = 2, 4, 6, … , 20</a:t>
            </a:r>
            <a:endParaRPr lang="es-ES" sz="1600" dirty="0">
              <a:latin typeface="Atkinson Hyperlegible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8B64AE-4532-1E56-AC70-3F9B9F5E2D59}"/>
              </a:ext>
            </a:extLst>
          </p:cNvPr>
          <p:cNvSpPr txBox="1"/>
          <p:nvPr/>
        </p:nvSpPr>
        <p:spPr>
          <a:xfrm>
            <a:off x="9392905" y="2612604"/>
            <a:ext cx="28278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k = 8 (chequeado)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970987-7FB6-16D4-CC3F-2E219487FE3C}"/>
              </a:ext>
            </a:extLst>
          </p:cNvPr>
          <p:cNvSpPr txBox="1"/>
          <p:nvPr/>
        </p:nvSpPr>
        <p:spPr>
          <a:xfrm>
            <a:off x="8824381" y="4606945"/>
            <a:ext cx="2627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 aritmética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2DF473-B56F-581B-F0CF-C09B4AF418AA}"/>
              </a:ext>
            </a:extLst>
          </p:cNvPr>
          <p:cNvSpPr txBox="1"/>
          <p:nvPr/>
        </p:nvSpPr>
        <p:spPr>
          <a:xfrm>
            <a:off x="8824381" y="5382518"/>
            <a:ext cx="271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 intercuartílica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8A3CD5-F152-7E7C-2643-BE87717F458E}"/>
              </a:ext>
            </a:extLst>
          </p:cNvPr>
          <p:cNvSpPr txBox="1"/>
          <p:nvPr/>
        </p:nvSpPr>
        <p:spPr>
          <a:xfrm>
            <a:off x="8826033" y="5721846"/>
            <a:ext cx="14991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Mediana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BB2E6F-C739-D837-7C66-67F2DCD3AE75}"/>
              </a:ext>
            </a:extLst>
          </p:cNvPr>
          <p:cNvSpPr txBox="1"/>
          <p:nvPr/>
        </p:nvSpPr>
        <p:spPr>
          <a:xfrm>
            <a:off x="8824381" y="4997874"/>
            <a:ext cx="2627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 Modificada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2E6507-4FDF-8585-F027-0BF9B6E61251}"/>
              </a:ext>
            </a:extLst>
          </p:cNvPr>
          <p:cNvSpPr txBox="1"/>
          <p:nvPr/>
        </p:nvSpPr>
        <p:spPr>
          <a:xfrm>
            <a:off x="8824381" y="6110348"/>
            <a:ext cx="271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s-ES" dirty="0">
                <a:latin typeface="Atkinson Hyperlegible" pitchFamily="2" charset="0"/>
              </a:rPr>
              <a:t>Media de Tukey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EA4E23A4-32C7-86C8-1A1C-97830109C1E2}"/>
              </a:ext>
            </a:extLst>
          </p:cNvPr>
          <p:cNvSpPr/>
          <p:nvPr/>
        </p:nvSpPr>
        <p:spPr>
          <a:xfrm>
            <a:off x="8996851" y="1516458"/>
            <a:ext cx="450000" cy="365277"/>
          </a:xfrm>
          <a:prstGeom prst="rightArrow">
            <a:avLst/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5ECB0BB-9591-34F6-5C91-CE570B175745}"/>
              </a:ext>
            </a:extLst>
          </p:cNvPr>
          <p:cNvSpPr/>
          <p:nvPr/>
        </p:nvSpPr>
        <p:spPr>
          <a:xfrm>
            <a:off x="727788" y="5433591"/>
            <a:ext cx="2024743" cy="9374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ALINEAR TODO</a:t>
            </a:r>
          </a:p>
        </p:txBody>
      </p:sp>
    </p:spTree>
    <p:extLst>
      <p:ext uri="{BB962C8B-B14F-4D97-AF65-F5344CB8AC3E}">
        <p14:creationId xmlns:p14="http://schemas.microsoft.com/office/powerpoint/2010/main" val="3403529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1" grpId="0" animBg="1"/>
      <p:bldP spid="12" grpId="0" animBg="1"/>
      <p:bldP spid="13" grpId="0" animBg="1"/>
      <p:bldP spid="14" grpId="0" animBg="1"/>
      <p:bldP spid="48" grpId="0"/>
      <p:bldP spid="49" grpId="0"/>
      <p:bldP spid="2" grpId="0"/>
      <p:bldP spid="3" grpId="0"/>
      <p:bldP spid="8" grpId="0"/>
      <p:bldP spid="10" grpId="0"/>
      <p:bldP spid="15" grpId="0" animBg="1"/>
      <p:bldP spid="22" grpId="0" animBg="1"/>
      <p:bldP spid="40" grpId="0" animBg="1"/>
      <p:bldP spid="47" grpId="0" animBg="1"/>
      <p:bldP spid="50" grpId="0"/>
      <p:bldP spid="53" grpId="0"/>
      <p:bldP spid="57" grpId="0" animBg="1"/>
      <p:bldP spid="56" grpId="0" animBg="1"/>
      <p:bldP spid="4" grpId="0" animBg="1"/>
      <p:bldP spid="5" grpId="0"/>
      <p:bldP spid="7" grpId="0"/>
      <p:bldP spid="16" grpId="0"/>
      <p:bldP spid="17" grpId="0"/>
      <p:bldP spid="18" grpId="0"/>
      <p:bldP spid="19" grpId="0"/>
      <p:bldP spid="20" grpId="0"/>
      <p:bldP spid="21" grpId="0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F6EFEA-25C6-31F1-F662-5200B191E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874" y="938881"/>
            <a:ext cx="10800000" cy="480837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26C1246-5C3A-50E3-3EFE-4ABFC35B0D1D}"/>
              </a:ext>
            </a:extLst>
          </p:cNvPr>
          <p:cNvSpPr txBox="1"/>
          <p:nvPr/>
        </p:nvSpPr>
        <p:spPr>
          <a:xfrm>
            <a:off x="335901" y="5676509"/>
            <a:ext cx="113180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Las </a:t>
            </a:r>
            <a:r>
              <a:rPr lang="es-ES" dirty="0" err="1"/>
              <a:t>ditribuciones</a:t>
            </a:r>
            <a:r>
              <a:rPr lang="es-ES" dirty="0"/>
              <a:t> simétricas controlan el error tipo I mientras que las asimétricas requieren de medidas de centralidad robustas.</a:t>
            </a:r>
          </a:p>
          <a:p>
            <a:r>
              <a:rPr lang="es-ES" dirty="0"/>
              <a:t>Chequeado para para t, </a:t>
            </a:r>
            <a:r>
              <a:rPr lang="es-ES" dirty="0" err="1"/>
              <a:t>lognormal</a:t>
            </a:r>
            <a:r>
              <a:rPr lang="es-ES" dirty="0"/>
              <a:t>, 8 grupos, tamaño 40, y otras pruebas (</a:t>
            </a:r>
            <a:r>
              <a:rPr lang="es-ES" i="1" dirty="0"/>
              <a:t>Van Der </a:t>
            </a:r>
            <a:r>
              <a:rPr lang="es-ES" i="1" dirty="0" err="1"/>
              <a:t>Waerden</a:t>
            </a:r>
            <a:r>
              <a:rPr lang="es-ES" i="1" dirty="0"/>
              <a:t>, </a:t>
            </a:r>
            <a:r>
              <a:rPr lang="es-ES" i="1" dirty="0" err="1"/>
              <a:t>Mood</a:t>
            </a:r>
            <a:r>
              <a:rPr lang="es-ES" i="1" dirty="0"/>
              <a:t>, MLG con distribución gamma, ANOVA </a:t>
            </a:r>
            <a:r>
              <a:rPr lang="es-ES" i="1" dirty="0" err="1"/>
              <a:t>winzorisado</a:t>
            </a:r>
            <a:r>
              <a:rPr lang="es-ES" i="1" dirty="0"/>
              <a:t>, ANOVA con transformación logaritmo y raíz, ANOVA de </a:t>
            </a:r>
            <a:r>
              <a:rPr lang="es-ES" i="1" dirty="0" err="1"/>
              <a:t>welch</a:t>
            </a:r>
            <a:r>
              <a:rPr lang="es-ES" dirty="0"/>
              <a:t>).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1893F26-9B43-9354-303A-E2D15B91383F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Diagonal Corners Snipped 4">
            <a:extLst>
              <a:ext uri="{FF2B5EF4-FFF2-40B4-BE49-F238E27FC236}">
                <a16:creationId xmlns:a16="http://schemas.microsoft.com/office/drawing/2014/main" id="{7FC48728-A023-C650-CE35-67D9DFE1D8BA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MEDIDAS DE CENTRALIDAD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217657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328BA-77E7-508B-8500-9D023A3D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63DA853-6DC1-D4F3-92F8-B015E030E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57" y="931125"/>
            <a:ext cx="10800000" cy="4805577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D16B7FD7-25E9-4DE1-13F3-E8456798EC73}"/>
              </a:ext>
            </a:extLst>
          </p:cNvPr>
          <p:cNvSpPr txBox="1"/>
          <p:nvPr/>
        </p:nvSpPr>
        <p:spPr>
          <a:xfrm>
            <a:off x="335901" y="5331276"/>
            <a:ext cx="117472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las distribuciones simétricas todas las medidas de centralidad tienen la misma potencia. Para las distribuciones asimétricas las tres medidas robustas tienen la misma potencia.</a:t>
            </a:r>
          </a:p>
          <a:p>
            <a:r>
              <a:rPr lang="es-ES" dirty="0"/>
              <a:t>Chequeado para t, </a:t>
            </a:r>
            <a:r>
              <a:rPr lang="es-ES" dirty="0" err="1"/>
              <a:t>lognormal</a:t>
            </a:r>
            <a:r>
              <a:rPr lang="es-ES" dirty="0"/>
              <a:t>, 8 grupos, tamaño 40, y otras pruebas (</a:t>
            </a:r>
            <a:r>
              <a:rPr lang="es-ES" i="1" dirty="0"/>
              <a:t>Van Der </a:t>
            </a:r>
            <a:r>
              <a:rPr lang="es-ES" i="1" dirty="0" err="1"/>
              <a:t>Waerden</a:t>
            </a:r>
            <a:r>
              <a:rPr lang="es-ES" i="1" dirty="0"/>
              <a:t>, </a:t>
            </a:r>
            <a:r>
              <a:rPr lang="es-ES" i="1" dirty="0" err="1"/>
              <a:t>Mood</a:t>
            </a:r>
            <a:r>
              <a:rPr lang="es-ES" i="1" dirty="0"/>
              <a:t>, MLG con distribución gamma, ANOVA </a:t>
            </a:r>
            <a:r>
              <a:rPr lang="es-ES" i="1" dirty="0" err="1"/>
              <a:t>winzorisado</a:t>
            </a:r>
            <a:r>
              <a:rPr lang="es-ES" i="1" dirty="0"/>
              <a:t>, ANOVA con transformación logaritmo y raíz, ANOVA de </a:t>
            </a:r>
            <a:r>
              <a:rPr lang="es-ES" i="1" dirty="0" err="1"/>
              <a:t>welch</a:t>
            </a:r>
            <a:r>
              <a:rPr lang="es-ES" dirty="0"/>
              <a:t>).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2797960-06FC-FD26-92C2-1BD9655DB552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8C8E059B-F38B-1BE2-375B-B344ECAEAEBF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MEDIDAS DE CENTRALIDAD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2644697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57946-74F9-521E-BC60-EE76DC25A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02F4FB35-E3B4-77BF-BF1F-FC36E8005C51}"/>
              </a:ext>
            </a:extLst>
          </p:cNvPr>
          <p:cNvSpPr txBox="1"/>
          <p:nvPr/>
        </p:nvSpPr>
        <p:spPr>
          <a:xfrm>
            <a:off x="335902" y="5331276"/>
            <a:ext cx="116446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tamaño 4, las pruebas no controlan el error tipo I. </a:t>
            </a:r>
          </a:p>
          <a:p>
            <a:r>
              <a:rPr lang="es-ES" dirty="0"/>
              <a:t>Para las distribuciones asimétricas </a:t>
            </a:r>
            <a:r>
              <a:rPr lang="es-ES" dirty="0" err="1"/>
              <a:t>Kruskall</a:t>
            </a:r>
            <a:r>
              <a:rPr lang="es-ES" dirty="0"/>
              <a:t>-Wallis no controla el error tipo I</a:t>
            </a:r>
          </a:p>
          <a:p>
            <a:r>
              <a:rPr lang="es-ES" dirty="0"/>
              <a:t>Otras pruebas (ANOVA de Welch, ANOVA con transformación raíz) logran controlar el error tipo I para 4 grupos pero no para 8 o más grupos.</a:t>
            </a:r>
          </a:p>
          <a:p>
            <a:r>
              <a:rPr lang="es-ES" dirty="0"/>
              <a:t>Chequeado para t, </a:t>
            </a:r>
            <a:r>
              <a:rPr lang="es-ES" dirty="0" err="1"/>
              <a:t>lognormal</a:t>
            </a:r>
            <a:r>
              <a:rPr lang="es-ES" dirty="0"/>
              <a:t>, 8 grupos,  y otras pruebas.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AFC49B-1EC8-D328-A71A-176A140D9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824" y="961015"/>
            <a:ext cx="10800000" cy="432282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840C3D-B70A-73B9-E904-1322ED5C6845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D2C65EB-1630-B47C-4886-ECDDBA890B64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>
                <a:latin typeface="Atkinson Hyperlegible" pitchFamily="2" charset="0"/>
              </a:rPr>
              <a:t>TAMAÑO MUESTRAL</a:t>
            </a:r>
            <a:endParaRPr lang="es-ES" sz="4000" b="1" dirty="0"/>
          </a:p>
        </p:txBody>
      </p:sp>
    </p:spTree>
    <p:extLst>
      <p:ext uri="{BB962C8B-B14F-4D97-AF65-F5344CB8AC3E}">
        <p14:creationId xmlns:p14="http://schemas.microsoft.com/office/powerpoint/2010/main" val="1848982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F6CBC-7E7E-58A2-2156-50FEA48AD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998847E-4BAF-0095-6814-DF2A74E21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60" y="989008"/>
            <a:ext cx="10800000" cy="432282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C5FE1912-AF45-EB12-60E3-BD508AE264D3}"/>
              </a:ext>
            </a:extLst>
          </p:cNvPr>
          <p:cNvSpPr txBox="1"/>
          <p:nvPr/>
        </p:nvSpPr>
        <p:spPr>
          <a:xfrm>
            <a:off x="335902" y="5331276"/>
            <a:ext cx="1106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Para distribuciones simétricas, al incrementarla cantidad de grupo las pruebas se vuelven más conservadoras.</a:t>
            </a:r>
          </a:p>
          <a:p>
            <a:r>
              <a:rPr lang="es-ES" dirty="0"/>
              <a:t>Para la distribución exponencial solo el ANOVA y el ANOVA por permutación controlan el error tipo I.</a:t>
            </a:r>
          </a:p>
          <a:p>
            <a:r>
              <a:rPr lang="es-ES" dirty="0"/>
              <a:t>Chequeado para t, </a:t>
            </a:r>
            <a:r>
              <a:rPr lang="es-ES" dirty="0" err="1"/>
              <a:t>lognormal</a:t>
            </a:r>
            <a:r>
              <a:rPr lang="es-ES" dirty="0"/>
              <a:t>, tamaño 40, y otras pruebas.</a:t>
            </a:r>
          </a:p>
          <a:p>
            <a:endParaRPr lang="es-E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7435DD6-5955-AC83-EC84-E97FB085E445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Diagonal Corners Snipped 7">
            <a:extLst>
              <a:ext uri="{FF2B5EF4-FFF2-40B4-BE49-F238E27FC236}">
                <a16:creationId xmlns:a16="http://schemas.microsoft.com/office/drawing/2014/main" id="{A0F90467-4B1E-42EA-A56B-551676B9A224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CANTIDAD DE GRUPOS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588908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5A274-EF2F-651E-0539-307417BF2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8E8759A3-0817-46F0-671E-2404A34FED23}"/>
              </a:ext>
            </a:extLst>
          </p:cNvPr>
          <p:cNvSpPr txBox="1"/>
          <p:nvPr/>
        </p:nvSpPr>
        <p:spPr>
          <a:xfrm>
            <a:off x="335902" y="5331276"/>
            <a:ext cx="110629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ANOVA y ANOVA por permutación presentan la misma potencia.</a:t>
            </a:r>
          </a:p>
          <a:p>
            <a:r>
              <a:rPr lang="es-ES" dirty="0"/>
              <a:t>El 80% de potencia se alcanza para sigma = 2 en la distribución normal y cerca de sigma = 3 en la exponencial.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734B59-DEBF-F32C-AAA8-69D52FD48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50" y="963804"/>
            <a:ext cx="10800000" cy="4367472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C7AFCF-6A9C-BE85-A107-C56F8D97B11A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673C4CA9-C650-570A-17B1-CAD393B26EFF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TAMAÑO DEL EFECTO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38529431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98FCA13-1FB5-DFEC-1E4E-841F82773B0E}"/>
              </a:ext>
            </a:extLst>
          </p:cNvPr>
          <p:cNvSpPr txBox="1"/>
          <p:nvPr/>
        </p:nvSpPr>
        <p:spPr>
          <a:xfrm>
            <a:off x="597937" y="1263451"/>
            <a:ext cx="176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UNO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559B60B-98AF-C171-719E-5077166A7EB8}"/>
              </a:ext>
            </a:extLst>
          </p:cNvPr>
          <p:cNvSpPr/>
          <p:nvPr/>
        </p:nvSpPr>
        <p:spPr>
          <a:xfrm>
            <a:off x="597160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1A59A53-6733-EE3E-C09C-776D65E43D11}"/>
              </a:ext>
            </a:extLst>
          </p:cNvPr>
          <p:cNvSpPr/>
          <p:nvPr/>
        </p:nvSpPr>
        <p:spPr>
          <a:xfrm>
            <a:off x="3400820" y="357616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BB7421-2249-23D2-BE5B-B77952CDDE58}"/>
              </a:ext>
            </a:extLst>
          </p:cNvPr>
          <p:cNvSpPr txBox="1"/>
          <p:nvPr/>
        </p:nvSpPr>
        <p:spPr>
          <a:xfrm>
            <a:off x="597160" y="3179029"/>
            <a:ext cx="176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MITAD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54B2F2D-72E3-99D4-8288-F8246534DCA6}"/>
              </a:ext>
            </a:extLst>
          </p:cNvPr>
          <p:cNvSpPr/>
          <p:nvPr/>
        </p:nvSpPr>
        <p:spPr>
          <a:xfrm>
            <a:off x="1290736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BB08E08A-F944-631D-5C96-86BCC54DBA37}"/>
              </a:ext>
            </a:extLst>
          </p:cNvPr>
          <p:cNvSpPr/>
          <p:nvPr/>
        </p:nvSpPr>
        <p:spPr>
          <a:xfrm>
            <a:off x="1984312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0122AF4-D7C3-5BF3-0388-C8C35C9DAACB}"/>
              </a:ext>
            </a:extLst>
          </p:cNvPr>
          <p:cNvSpPr/>
          <p:nvPr/>
        </p:nvSpPr>
        <p:spPr>
          <a:xfrm>
            <a:off x="2677888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312BCCE-10A3-FC1C-4F19-6C9108677A0D}"/>
              </a:ext>
            </a:extLst>
          </p:cNvPr>
          <p:cNvSpPr/>
          <p:nvPr/>
        </p:nvSpPr>
        <p:spPr>
          <a:xfrm>
            <a:off x="3371464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DFE0E15-C1E7-8A47-C5DD-4F42FA04E096}"/>
              </a:ext>
            </a:extLst>
          </p:cNvPr>
          <p:cNvSpPr/>
          <p:nvPr/>
        </p:nvSpPr>
        <p:spPr>
          <a:xfrm>
            <a:off x="4065040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D7847FB-FEE7-188C-F2D9-FA33F58002FB}"/>
              </a:ext>
            </a:extLst>
          </p:cNvPr>
          <p:cNvSpPr/>
          <p:nvPr/>
        </p:nvSpPr>
        <p:spPr>
          <a:xfrm>
            <a:off x="4758616" y="1894115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8571CAF-7416-5BA2-0613-9612D9516DAD}"/>
              </a:ext>
            </a:extLst>
          </p:cNvPr>
          <p:cNvSpPr/>
          <p:nvPr/>
        </p:nvSpPr>
        <p:spPr>
          <a:xfrm>
            <a:off x="626516" y="3761414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693F0A8D-4641-B4A5-88C2-91F5185ACC0C}"/>
              </a:ext>
            </a:extLst>
          </p:cNvPr>
          <p:cNvSpPr/>
          <p:nvPr/>
        </p:nvSpPr>
        <p:spPr>
          <a:xfrm>
            <a:off x="1320092" y="3761414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284117D-821D-0125-C185-B071DB9D3F5F}"/>
              </a:ext>
            </a:extLst>
          </p:cNvPr>
          <p:cNvSpPr/>
          <p:nvPr/>
        </p:nvSpPr>
        <p:spPr>
          <a:xfrm>
            <a:off x="2013668" y="3761414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D577798-5C85-ECF6-9260-02E05E9E5099}"/>
              </a:ext>
            </a:extLst>
          </p:cNvPr>
          <p:cNvSpPr/>
          <p:nvPr/>
        </p:nvSpPr>
        <p:spPr>
          <a:xfrm>
            <a:off x="2707244" y="3761414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6DE2AF4-6A57-7029-7A0B-B3F43784CB3D}"/>
              </a:ext>
            </a:extLst>
          </p:cNvPr>
          <p:cNvSpPr/>
          <p:nvPr/>
        </p:nvSpPr>
        <p:spPr>
          <a:xfrm>
            <a:off x="5298806" y="357616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5D1458B-FF3A-9907-9164-F1DCEDC9B6DE}"/>
              </a:ext>
            </a:extLst>
          </p:cNvPr>
          <p:cNvSpPr/>
          <p:nvPr/>
        </p:nvSpPr>
        <p:spPr>
          <a:xfrm>
            <a:off x="4349813" y="357616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2DA3FE5-F35C-9F90-27B2-44D72EF42437}"/>
              </a:ext>
            </a:extLst>
          </p:cNvPr>
          <p:cNvSpPr/>
          <p:nvPr/>
        </p:nvSpPr>
        <p:spPr>
          <a:xfrm>
            <a:off x="6247799" y="3576160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EB7767E1-76D9-2730-C3EC-0F2D3224E4D0}"/>
              </a:ext>
            </a:extLst>
          </p:cNvPr>
          <p:cNvSpPr/>
          <p:nvPr/>
        </p:nvSpPr>
        <p:spPr>
          <a:xfrm>
            <a:off x="5452192" y="1714115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9966BB-4C4A-A7F6-2E67-A62DD1EA7BCF}"/>
              </a:ext>
            </a:extLst>
          </p:cNvPr>
          <p:cNvSpPr txBox="1"/>
          <p:nvPr/>
        </p:nvSpPr>
        <p:spPr>
          <a:xfrm>
            <a:off x="597160" y="4727520"/>
            <a:ext cx="176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TODOS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195E8CE7-C3D9-9B0D-82B9-414494070C1E}"/>
              </a:ext>
            </a:extLst>
          </p:cNvPr>
          <p:cNvSpPr/>
          <p:nvPr/>
        </p:nvSpPr>
        <p:spPr>
          <a:xfrm>
            <a:off x="657618" y="5358713"/>
            <a:ext cx="540000" cy="5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65C2A92-337A-160F-DE48-52E511F61F3E}"/>
              </a:ext>
            </a:extLst>
          </p:cNvPr>
          <p:cNvSpPr/>
          <p:nvPr/>
        </p:nvSpPr>
        <p:spPr>
          <a:xfrm>
            <a:off x="1328572" y="5331713"/>
            <a:ext cx="594000" cy="594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4A24DC8-55D7-A9E0-8854-D1869497FC42}"/>
              </a:ext>
            </a:extLst>
          </p:cNvPr>
          <p:cNvSpPr/>
          <p:nvPr/>
        </p:nvSpPr>
        <p:spPr>
          <a:xfrm>
            <a:off x="1993069" y="5294205"/>
            <a:ext cx="648000" cy="648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15327D4-0F8E-4F27-B647-445BCECB3F7F}"/>
              </a:ext>
            </a:extLst>
          </p:cNvPr>
          <p:cNvSpPr/>
          <p:nvPr/>
        </p:nvSpPr>
        <p:spPr>
          <a:xfrm>
            <a:off x="2748508" y="5267580"/>
            <a:ext cx="702000" cy="70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3A5B6163-EF5F-16E4-FDCA-D73B5E476F66}"/>
              </a:ext>
            </a:extLst>
          </p:cNvPr>
          <p:cNvSpPr/>
          <p:nvPr/>
        </p:nvSpPr>
        <p:spPr>
          <a:xfrm>
            <a:off x="3521005" y="5264021"/>
            <a:ext cx="738000" cy="738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DD88E8D-71FA-D39F-B3CD-507CB282B323}"/>
              </a:ext>
            </a:extLst>
          </p:cNvPr>
          <p:cNvSpPr/>
          <p:nvPr/>
        </p:nvSpPr>
        <p:spPr>
          <a:xfrm>
            <a:off x="4349813" y="5232713"/>
            <a:ext cx="792000" cy="79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822E3CE-5F07-5ED9-56EB-26611BBD3879}"/>
              </a:ext>
            </a:extLst>
          </p:cNvPr>
          <p:cNvSpPr/>
          <p:nvPr/>
        </p:nvSpPr>
        <p:spPr>
          <a:xfrm>
            <a:off x="5189744" y="5205713"/>
            <a:ext cx="846000" cy="846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9FDB7CAF-3ECB-6C4B-BF31-68D86B9D7D51}"/>
              </a:ext>
            </a:extLst>
          </p:cNvPr>
          <p:cNvSpPr/>
          <p:nvPr/>
        </p:nvSpPr>
        <p:spPr>
          <a:xfrm>
            <a:off x="6096000" y="5168205"/>
            <a:ext cx="900000" cy="90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CD162D4-184C-D44E-F8D1-F7A361D72930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Diagonal Corners Snipped 51">
            <a:extLst>
              <a:ext uri="{FF2B5EF4-FFF2-40B4-BE49-F238E27FC236}">
                <a16:creationId xmlns:a16="http://schemas.microsoft.com/office/drawing/2014/main" id="{AD3FA372-5213-15D1-AC2A-BE451EB026B1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PATRÓN DE LOS DESVÍOS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25202093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A854C-87ED-A41D-A12E-2EA7692E1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0E6A4D7-51EE-36C0-67AD-BD499D016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6657"/>
            <a:ext cx="9423918" cy="4681315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7063F533-5E9F-9769-D8D4-ABACB746310E}"/>
              </a:ext>
            </a:extLst>
          </p:cNvPr>
          <p:cNvSpPr txBox="1"/>
          <p:nvPr/>
        </p:nvSpPr>
        <p:spPr>
          <a:xfrm>
            <a:off x="335902" y="5331276"/>
            <a:ext cx="110629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En todos los casos cuando todos los desvíos son distintos la potencia disminuye. </a:t>
            </a:r>
          </a:p>
          <a:p>
            <a:r>
              <a:rPr lang="es-ES" dirty="0"/>
              <a:t>Cuando la mitad de los desvíos son diferentes, se observa una mayor potencia si hay al menos 8 grupos.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4ADEC05-7918-DC58-CEC6-2282907D6FE7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D7C7B1EC-75CA-9721-1561-6166D7BCA908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PATRÓN DE LOS DESVÍOS</a:t>
            </a:r>
            <a:endParaRPr lang="es-ES" sz="36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C12D07-32D9-7EBB-F0F4-57DE5147D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6808" y="1904787"/>
            <a:ext cx="2248214" cy="152421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E0411C5-BE9A-C639-6EC7-A4C0FF45E7E9}"/>
              </a:ext>
            </a:extLst>
          </p:cNvPr>
          <p:cNvSpPr/>
          <p:nvPr/>
        </p:nvSpPr>
        <p:spPr>
          <a:xfrm>
            <a:off x="9759820" y="3526971"/>
            <a:ext cx="2080727" cy="15242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ARREGLAR GRAFICO PARA MOSTRAR LEYENDA CORRECTAMENTE</a:t>
            </a:r>
          </a:p>
        </p:txBody>
      </p:sp>
    </p:spTree>
    <p:extLst>
      <p:ext uri="{BB962C8B-B14F-4D97-AF65-F5344CB8AC3E}">
        <p14:creationId xmlns:p14="http://schemas.microsoft.com/office/powerpoint/2010/main" val="5762290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15819-A07A-BD31-CAA4-043F62698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A8666C98-4858-9753-0554-F9291C1A6894}"/>
              </a:ext>
            </a:extLst>
          </p:cNvPr>
          <p:cNvSpPr txBox="1"/>
          <p:nvPr/>
        </p:nvSpPr>
        <p:spPr>
          <a:xfrm>
            <a:off x="335902" y="5331276"/>
            <a:ext cx="110629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Ambas pruebas presentan comportamientos similares.</a:t>
            </a:r>
          </a:p>
          <a:p>
            <a:r>
              <a:rPr lang="es-ES" dirty="0"/>
              <a:t>Para tamaño N=20 se muestran robustos con contaminaciones de hasta 2%.</a:t>
            </a:r>
          </a:p>
          <a:p>
            <a:r>
              <a:rPr lang="es-ES" dirty="0"/>
              <a:t>Para tamaño N=40 las pruebas son robustas para hasta 1%.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676BCCB-104B-5130-3FB2-411237B3EEF2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7FD4BEC8-92AE-B2E9-2233-30F92D93D0E6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VALORES ATÍPICOS</a:t>
            </a:r>
            <a:endParaRPr lang="es-ES" sz="36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A74F6C2-2443-1389-5C44-D2E68B204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77" y="963804"/>
            <a:ext cx="10800000" cy="436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483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FF6179-5903-81CE-DA31-75697CC784C4}"/>
              </a:ext>
            </a:extLst>
          </p:cNvPr>
          <p:cNvSpPr txBox="1"/>
          <p:nvPr/>
        </p:nvSpPr>
        <p:spPr>
          <a:xfrm>
            <a:off x="598899" y="1138335"/>
            <a:ext cx="1117633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La mayoría de las medidas de centralidad y pruebas resultan apropiadas cuando la distribución original es robusta.</a:t>
            </a:r>
          </a:p>
          <a:p>
            <a:endParaRPr lang="es-ES" dirty="0"/>
          </a:p>
          <a:p>
            <a:r>
              <a:rPr lang="es-ES" dirty="0"/>
              <a:t>Sin embargo, se recomienda utilizar la mediana (u otra medida robusta) debido a que resulta adecuada para en distribuciones asimétricas y presenta la misma potencia que la media </a:t>
            </a:r>
            <a:r>
              <a:rPr lang="es-ES" dirty="0" err="1"/>
              <a:t>artimética</a:t>
            </a:r>
            <a:r>
              <a:rPr lang="es-ES" dirty="0"/>
              <a:t> en distribuciones simétricas.</a:t>
            </a:r>
          </a:p>
          <a:p>
            <a:endParaRPr lang="es-ES" dirty="0"/>
          </a:p>
          <a:p>
            <a:r>
              <a:rPr lang="es-ES" dirty="0"/>
              <a:t>De entre las 11 pruebas consideradas solo el ANOVA y el ANOVA por permutación lograron controlar el error tipo I para distintos tamaños muestrales (N&gt;=8) y cantidad de grupos (k  entre 2 y 20).</a:t>
            </a:r>
          </a:p>
          <a:p>
            <a:endParaRPr lang="es-ES" dirty="0"/>
          </a:p>
          <a:p>
            <a:r>
              <a:rPr lang="es-ES" dirty="0"/>
              <a:t>Ambas pruebas, para un tamaño N=20, alcanzan el 80% de potencia para sigma=2 (Normal) y sigma =3 (Exponencial)</a:t>
            </a:r>
          </a:p>
          <a:p>
            <a:endParaRPr lang="es-ES" dirty="0"/>
          </a:p>
          <a:p>
            <a:r>
              <a:rPr lang="es-ES" dirty="0"/>
              <a:t>Las pruebas incrementan su potencia cuando la mitad de los grupos poseen un desvío común y la otra mitad otro. </a:t>
            </a:r>
          </a:p>
          <a:p>
            <a:endParaRPr lang="es-ES" dirty="0"/>
          </a:p>
          <a:p>
            <a:r>
              <a:rPr lang="es-ES" dirty="0"/>
              <a:t>La potencia de las pruebas disminuye mucho cuando todos los grupos tienen desvíos diferentes.</a:t>
            </a:r>
          </a:p>
          <a:p>
            <a:endParaRPr lang="es-ES" dirty="0"/>
          </a:p>
          <a:p>
            <a:r>
              <a:rPr lang="es-ES" dirty="0"/>
              <a:t>Las pruebas no son robustas frente a valores atípicos y se conjetura que tampoco frente a diferencias distribucionales. 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B0F0967-DA54-1DE1-BA8C-BF917B2D2C9C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1132B5E5-0941-D888-98CE-3AE6D904F2DC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>
                <a:latin typeface="Atkinson Hyperlegible" pitchFamily="2" charset="0"/>
              </a:rPr>
              <a:t>CONCLUSIÓN</a:t>
            </a:r>
            <a:endParaRPr lang="es-ES" sz="3600" b="1" dirty="0"/>
          </a:p>
        </p:txBody>
      </p:sp>
    </p:spTree>
    <p:extLst>
      <p:ext uri="{BB962C8B-B14F-4D97-AF65-F5344CB8AC3E}">
        <p14:creationId xmlns:p14="http://schemas.microsoft.com/office/powerpoint/2010/main" val="15044493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EA8B6C-BF8F-283E-C8F5-BE15316696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89220"/>
            <a:ext cx="12192000" cy="40637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A4B507F-94E9-309D-E89E-5C9093A96EFE}"/>
              </a:ext>
            </a:extLst>
          </p:cNvPr>
          <p:cNvCxnSpPr>
            <a:cxnSpLocks/>
          </p:cNvCxnSpPr>
          <p:nvPr/>
        </p:nvCxnSpPr>
        <p:spPr>
          <a:xfrm>
            <a:off x="209550" y="893763"/>
            <a:ext cx="12028362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4F19688E-431D-67DB-1151-1589B41619CB}"/>
              </a:ext>
            </a:extLst>
          </p:cNvPr>
          <p:cNvSpPr/>
          <p:nvPr/>
        </p:nvSpPr>
        <p:spPr>
          <a:xfrm>
            <a:off x="0" y="0"/>
            <a:ext cx="6705600" cy="903288"/>
          </a:xfrm>
          <a:prstGeom prst="snip2Diag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b="1" dirty="0"/>
              <a:t>¡MUCHAS GRACIAS!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449299C-5E55-4FAE-F87B-520F65311A25}"/>
              </a:ext>
            </a:extLst>
          </p:cNvPr>
          <p:cNvSpPr/>
          <p:nvPr/>
        </p:nvSpPr>
        <p:spPr>
          <a:xfrm>
            <a:off x="1803817" y="1495636"/>
            <a:ext cx="3600000" cy="809625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/>
              <a:t>PREGUNTAS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58F51D6-BDF9-025B-9E8A-624D56DC9637}"/>
              </a:ext>
            </a:extLst>
          </p:cNvPr>
          <p:cNvSpPr/>
          <p:nvPr/>
        </p:nvSpPr>
        <p:spPr>
          <a:xfrm>
            <a:off x="6796073" y="2653388"/>
            <a:ext cx="3600000" cy="809625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/>
              <a:t>CRÍTICAS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CC9C895-8320-ACE0-51AA-646F27E2BC90}"/>
              </a:ext>
            </a:extLst>
          </p:cNvPr>
          <p:cNvSpPr/>
          <p:nvPr/>
        </p:nvSpPr>
        <p:spPr>
          <a:xfrm>
            <a:off x="1933129" y="3862453"/>
            <a:ext cx="3600000" cy="809625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/>
              <a:t>OPINIONES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319564-7903-DC8A-6BDD-E47D8A14BD21}"/>
              </a:ext>
            </a:extLst>
          </p:cNvPr>
          <p:cNvSpPr/>
          <p:nvPr/>
        </p:nvSpPr>
        <p:spPr>
          <a:xfrm>
            <a:off x="6523602" y="5236362"/>
            <a:ext cx="3600000" cy="809625"/>
          </a:xfrm>
          <a:prstGeom prst="roundRect">
            <a:avLst/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/>
              <a:t>COMENTARIOS</a:t>
            </a:r>
          </a:p>
        </p:txBody>
      </p:sp>
    </p:spTree>
    <p:extLst>
      <p:ext uri="{BB962C8B-B14F-4D97-AF65-F5344CB8AC3E}">
        <p14:creationId xmlns:p14="http://schemas.microsoft.com/office/powerpoint/2010/main" val="3400966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6060</TotalTime>
  <Words>934</Words>
  <Application>Microsoft Office PowerPoint</Application>
  <PresentationFormat>Widescreen</PresentationFormat>
  <Paragraphs>140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Atkinson Hyperlegible</vt:lpstr>
      <vt:lpstr>Calibri</vt:lpstr>
      <vt:lpstr>Calibri Light</vt:lpstr>
      <vt:lpstr>Cambria Math</vt:lpstr>
      <vt:lpstr>Wingdings</vt:lpstr>
      <vt:lpstr>Office Theme</vt:lpstr>
      <vt:lpstr>UN ESTUDIO SOBRE LA PRUEBA DE LEVENE Y ALGUNAS DE SUS VARIANTES</vt:lpstr>
      <vt:lpstr>UN ESTUDIO SOBRE LA PRUEBA DE LEVENE Y ALGUNAS DE SUS VARIANTES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Eduardo Andres Villarruel</dc:creator>
  <cp:lastModifiedBy>Eduardo Andres Villarruel</cp:lastModifiedBy>
  <cp:revision>2</cp:revision>
  <dcterms:created xsi:type="dcterms:W3CDTF">2026-09-03T00:57:25Z</dcterms:created>
  <dcterms:modified xsi:type="dcterms:W3CDTF">2026-09-16T16:29:29Z</dcterms:modified>
</cp:coreProperties>
</file>