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327" r:id="rId3"/>
    <p:sldId id="316" r:id="rId4"/>
    <p:sldId id="320" r:id="rId5"/>
    <p:sldId id="331" r:id="rId6"/>
    <p:sldId id="330" r:id="rId7"/>
    <p:sldId id="332" r:id="rId8"/>
    <p:sldId id="271" r:id="rId9"/>
    <p:sldId id="334" r:id="rId10"/>
    <p:sldId id="335" r:id="rId11"/>
    <p:sldId id="290" r:id="rId12"/>
    <p:sldId id="256" r:id="rId13"/>
    <p:sldId id="260" r:id="rId14"/>
    <p:sldId id="259" r:id="rId15"/>
    <p:sldId id="264" r:id="rId16"/>
    <p:sldId id="266" r:id="rId17"/>
    <p:sldId id="273" r:id="rId18"/>
    <p:sldId id="267" r:id="rId19"/>
    <p:sldId id="329" r:id="rId20"/>
    <p:sldId id="268" r:id="rId21"/>
    <p:sldId id="257" r:id="rId22"/>
    <p:sldId id="328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7AED-4967-A9A0-C44D-25386A391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D9F43-0C48-9C92-7D97-5ABBE3394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5181-992B-207A-E989-2E89CF914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3195C-1167-D57F-C587-94568A0C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63F04-F706-FD07-2F3B-6FDC8366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416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8D20D-979A-19DF-F8C4-1BF3543F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E77A4-A747-ECEA-6793-7CC871D80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3C0F2-D92D-C802-C427-75100B712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6DF98-7CBC-061F-7D0E-715ED87E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1D6FB-9B27-211F-8714-60EBFE0F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756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10EE4-26D2-0C4A-596B-7B26A3861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2168D-FF55-09FE-41DF-0DF9C569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DCD60-6985-15BA-92E2-20A142891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5EE7A-4712-7FCB-CE46-01EE437B8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AFA8C-6389-8AB3-24F9-EDF4D2C79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34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B32A2-AE31-21A9-DFAC-7499B1EA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ACBF5-5FD0-2370-2897-4AEB6D71D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B129C-D475-3680-E24C-8C4A5621C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CC9EF-1B93-04EC-D69A-72F458D3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7F8A71-FE7B-A310-3497-63824F7C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7C66-8614-E3CA-7B51-1BD83C90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639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2DA5E-1D6F-8117-7C04-F1D7B73B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B3745-4C49-F8E4-E6AD-06A48ED0B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3AD44B-AC18-4197-8C9E-EE6B6E7ED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22803-35C0-951D-1BD8-C0407B20A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98936-009C-1E80-9823-176A067DB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63634B-108D-3804-42C5-EA317BDB3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49CB5D-910A-094D-3897-A80BD712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5842B3-58D5-FF98-70A9-95D66ED37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81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5A38-06C8-A0C8-B959-4519EF4E7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9FDC2-9DAD-CB06-B474-A98C8C8A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B64B15-B089-48CB-52C6-C2307DE3C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86937-D7CD-1086-FFC0-0AD1B51CF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462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D47AD-60B6-AE5F-75FE-061025F3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F96509-9116-486E-8C87-C1BB7834B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769F-5653-2B0B-47FD-19588B1A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643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3C625-1262-7A90-7437-F4912AFC9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6AD7-C00A-10BE-2B0D-238C97EA1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BC2B9-DD3C-BADD-931C-B6BE274B2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0C84C-5C8C-C5A9-E620-32A8B081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F8150-A012-D4E5-FE4F-F5B19F8A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9A022-780B-3172-9F73-AE6784953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782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113F1-CA71-1FEB-A43A-6A20A1A71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D473DD-59B1-134D-EC10-B8BFD7ACA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1CA501-9A89-C6BA-9D2B-DB270B600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B265C-C68B-BC27-ABF2-B519A7E5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D00E4-6E8A-B925-E4BB-4D6F11DF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B6893-D2C8-8F76-B9B4-D4221993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0136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85E4-E61E-1FB1-4A00-B02794E3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BE0A9-9D91-3147-99C0-8EB7B9C55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0894-F130-3F47-DE99-BB509596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DAB86-FDC2-0D2F-8B2F-F3C45A9D4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2662D-C982-FAB8-AEB8-DC55AD6C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090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5F6DE0-1F41-010D-79C5-C26F96738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CD45F1-6660-FAF1-4287-F794A980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D3CED-E030-DA8A-9353-7BBCBF8C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C582-1C01-F5F1-851D-D106E2FB7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D5FFE-35B2-6E5E-7E0C-632F558C5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109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DF54F-2148-11C6-34C8-28A3FBB2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8B26E-2BA4-E42A-9785-F91A157A9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E578B-3CA8-02B9-C08C-D0CC23C50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202B3-1060-482B-973A-1D7C2D430671}" type="datetimeFigureOut">
              <a:rPr lang="es-ES" smtClean="0"/>
              <a:t>22/09/2026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A3251-4D77-6942-7EAD-89C7075559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C2E25-9FAB-4AFB-D996-E1C01135C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B3992-D310-426A-B9DB-276A967878A1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682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35.png"/><Relationship Id="rId7" Type="http://schemas.openxmlformats.org/officeDocument/2006/relationships/image" Target="../media/image28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0.png"/><Relationship Id="rId4" Type="http://schemas.openxmlformats.org/officeDocument/2006/relationships/image" Target="../media/image36.png"/><Relationship Id="rId9" Type="http://schemas.openxmlformats.org/officeDocument/2006/relationships/image" Target="../media/image30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>
            <a:extLst>
              <a:ext uri="{FF2B5EF4-FFF2-40B4-BE49-F238E27FC236}">
                <a16:creationId xmlns:a16="http://schemas.microsoft.com/office/drawing/2014/main" id="{77B8E498-AB61-74D3-5099-FF445AC2B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75" y="1838932"/>
            <a:ext cx="3743325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36F686-52BD-E805-00C0-1C71EF740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600" y="230919"/>
            <a:ext cx="10330800" cy="1635981"/>
          </a:xfrm>
        </p:spPr>
        <p:txBody>
          <a:bodyPr>
            <a:normAutofit/>
          </a:bodyPr>
          <a:lstStyle/>
          <a:p>
            <a:r>
              <a:rPr lang="es-ES" sz="4000" b="1" dirty="0">
                <a:latin typeface="Atkinson Hyperlegible" pitchFamily="2" charset="0"/>
              </a:rPr>
              <a:t>UN ESTUDIO SOBRE LA PRUEBA DE LEVENE Y ALGUNAS DE SUS VARIANTES</a:t>
            </a:r>
            <a:endParaRPr lang="es-ES" sz="4000" dirty="0">
              <a:latin typeface="Atkinson Hyperlegible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54692-DC9D-CED9-5E93-253EBD73B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175" y="5019068"/>
            <a:ext cx="11243387" cy="1655762"/>
          </a:xfrm>
        </p:spPr>
        <p:txBody>
          <a:bodyPr>
            <a:normAutofit/>
          </a:bodyPr>
          <a:lstStyle/>
          <a:p>
            <a:pPr algn="l"/>
            <a:r>
              <a:rPr lang="es-ES" sz="1800" dirty="0"/>
              <a:t> 		</a:t>
            </a:r>
            <a:endParaRPr lang="es-ES" sz="1800" dirty="0">
              <a:effectLst/>
            </a:endParaRPr>
          </a:p>
          <a:p>
            <a:r>
              <a:rPr lang="es-ES" sz="2800" dirty="0"/>
              <a:t> Mg. </a:t>
            </a:r>
            <a:r>
              <a:rPr lang="es-ES" sz="2800" dirty="0" err="1"/>
              <a:t>Bussi</a:t>
            </a:r>
            <a:r>
              <a:rPr lang="es-ES" sz="2800" dirty="0"/>
              <a:t>, Javier            Lic. </a:t>
            </a:r>
            <a:r>
              <a:rPr lang="es-ES" sz="2800" dirty="0" err="1"/>
              <a:t>Capretto</a:t>
            </a:r>
            <a:r>
              <a:rPr lang="es-ES" sz="2800" dirty="0"/>
              <a:t>, Tomás          Lic. Villarruel, Eduardo A.</a:t>
            </a:r>
            <a:endParaRPr lang="es-ES" sz="2800" dirty="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AC5F90-9110-289F-C8AF-8A4C807B7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500" y="2436392"/>
            <a:ext cx="3744000" cy="2102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BAA755-6082-316A-FB43-0673F1E3C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7825" y="1922836"/>
            <a:ext cx="3744000" cy="28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42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33403-2C37-EC0A-C935-296A5DE6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4AB1646-CCC2-8CC2-D517-7758F47011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600" y="230919"/>
            <a:ext cx="10330800" cy="1635981"/>
          </a:xfrm>
        </p:spPr>
        <p:txBody>
          <a:bodyPr>
            <a:normAutofit/>
          </a:bodyPr>
          <a:lstStyle/>
          <a:p>
            <a:r>
              <a:rPr lang="es-ES" sz="4000" b="1" dirty="0">
                <a:solidFill>
                  <a:schemeClr val="accent5"/>
                </a:solidFill>
                <a:latin typeface="Atkinson Hyperlegible" pitchFamily="2" charset="0"/>
              </a:rPr>
              <a:t>UN ESTUDIO SOBRE LA PRUEBA DE LEVENE Y ALGUNAS DE SUS VARIANTES</a:t>
            </a:r>
            <a:endParaRPr lang="es-ES" sz="4000" dirty="0">
              <a:solidFill>
                <a:schemeClr val="accent5"/>
              </a:solidFill>
              <a:latin typeface="Atkinson Hyperlegib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48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06CF1-2614-839A-FFE4-F91FD047C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93CE140-B609-DEF3-A018-E5D146331530}"/>
              </a:ext>
            </a:extLst>
          </p:cNvPr>
          <p:cNvSpPr txBox="1">
            <a:spLocks/>
          </p:cNvSpPr>
          <p:nvPr/>
        </p:nvSpPr>
        <p:spPr>
          <a:xfrm>
            <a:off x="1666875" y="2868632"/>
            <a:ext cx="5270500" cy="108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" dirty="0">
              <a:latin typeface="Atkinson Hyperlegible" pitchFamily="2" charset="0"/>
            </a:endParaRPr>
          </a:p>
        </p:txBody>
      </p:sp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0CBBD6F2-DA67-2F75-43CA-1858C07F5007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MOTIVACIÓN</a:t>
            </a:r>
            <a:endParaRPr lang="es-ES" sz="4000" b="1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78786A-B281-AEC7-310A-F4C6A3E79ABB}"/>
              </a:ext>
            </a:extLst>
          </p:cNvPr>
          <p:cNvSpPr/>
          <p:nvPr/>
        </p:nvSpPr>
        <p:spPr>
          <a:xfrm>
            <a:off x="464400" y="12954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EL PROBLEMA DE LA IGUALDAD DE VARIANCIAS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705F8F-9DEE-0285-5385-B6D0C4A02B88}"/>
              </a:ext>
            </a:extLst>
          </p:cNvPr>
          <p:cNvSpPr txBox="1"/>
          <p:nvPr/>
        </p:nvSpPr>
        <p:spPr>
          <a:xfrm>
            <a:off x="464400" y="2520000"/>
            <a:ext cx="5160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s-ES" sz="2000" dirty="0">
                <a:latin typeface="Atkinson Hyperlegible" pitchFamily="2" charset="0"/>
              </a:rPr>
              <a:t>Hipótesis de interés.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A06EDE-794D-1E3C-3732-AB968A91D928}"/>
              </a:ext>
            </a:extLst>
          </p:cNvPr>
          <p:cNvSpPr txBox="1"/>
          <p:nvPr/>
        </p:nvSpPr>
        <p:spPr>
          <a:xfrm>
            <a:off x="464400" y="3239347"/>
            <a:ext cx="516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s-ES" sz="2000" dirty="0">
                <a:latin typeface="Atkinson Hyperlegible" pitchFamily="2" charset="0"/>
              </a:rPr>
              <a:t>Supuesto de varios modelos y pruebas.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s-ES" sz="2000" dirty="0">
              <a:latin typeface="Atkinson Hyperlegible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6B914E4-24CB-7A3F-5CBE-B3CE11F04AF9}"/>
              </a:ext>
            </a:extLst>
          </p:cNvPr>
          <p:cNvSpPr/>
          <p:nvPr/>
        </p:nvSpPr>
        <p:spPr>
          <a:xfrm>
            <a:off x="6334125" y="1314450"/>
            <a:ext cx="5400000" cy="8096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Atkinson Hyperlegible" pitchFamily="2" charset="0"/>
              </a:rPr>
              <a:t>ENFOQUES CLÁSICOS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57580B-35F2-E75D-7F01-DD6CB1A552ED}"/>
              </a:ext>
            </a:extLst>
          </p:cNvPr>
          <p:cNvSpPr txBox="1"/>
          <p:nvPr/>
        </p:nvSpPr>
        <p:spPr>
          <a:xfrm>
            <a:off x="6328800" y="3240000"/>
            <a:ext cx="5160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s-ES" sz="2000" dirty="0">
                <a:latin typeface="Atkinson Hyperlegible" pitchFamily="2" charset="0"/>
              </a:rPr>
              <a:t>Requieren normalidad.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697AD2-353F-00C1-CFD3-C1B4B095C11B}"/>
                  </a:ext>
                </a:extLst>
              </p:cNvPr>
              <p:cNvSpPr txBox="1"/>
              <p:nvPr/>
            </p:nvSpPr>
            <p:spPr>
              <a:xfrm>
                <a:off x="6328800" y="2520000"/>
                <a:ext cx="48264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sz="2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sz="2000" b="0" i="1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s-ES" sz="2000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s-ES" sz="2000" dirty="0">
                    <a:latin typeface="Atkinson Hyperlegible" pitchFamily="2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s-ES" sz="20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s-ES" sz="2000" dirty="0">
                    <a:latin typeface="Atkinson Hyperlegible" pitchFamily="2" charset="0"/>
                  </a:rPr>
                  <a:t> de </a:t>
                </a:r>
                <a:r>
                  <a:rPr lang="es-ES" sz="2000" dirty="0" err="1">
                    <a:latin typeface="Atkinson Hyperlegible" pitchFamily="2" charset="0"/>
                  </a:rPr>
                  <a:t>Cochram</a:t>
                </a:r>
                <a:r>
                  <a:rPr lang="es-ES" sz="2000" dirty="0">
                    <a:latin typeface="Atkinson Hyperlegible" pitchFamily="2" charset="0"/>
                  </a:rPr>
                  <a:t>, </a:t>
                </a:r>
                <a:r>
                  <a:rPr lang="es-ES" sz="2000" dirty="0" err="1">
                    <a:latin typeface="Atkinson Hyperlegible" pitchFamily="2" charset="0"/>
                  </a:rPr>
                  <a:t>Barlett</a:t>
                </a:r>
                <a:endParaRPr lang="es-ES" sz="2000" dirty="0">
                  <a:latin typeface="Atkinson Hyperlegible" pitchFamily="2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697AD2-353F-00C1-CFD3-C1B4B095C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800" y="2520000"/>
                <a:ext cx="4826442" cy="400110"/>
              </a:xfrm>
              <a:prstGeom prst="rect">
                <a:avLst/>
              </a:prstGeom>
              <a:blipFill>
                <a:blip r:embed="rId3"/>
                <a:stretch>
                  <a:fillRect l="-1136" t="-6061" b="-2727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EF72D21-9399-C716-3453-0C160F391250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>
            <a:extLst>
              <a:ext uri="{FF2B5EF4-FFF2-40B4-BE49-F238E27FC236}">
                <a16:creationId xmlns:a16="http://schemas.microsoft.com/office/drawing/2014/main" id="{AE2981B9-B875-9775-D37A-95F4D808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942" y="5068"/>
            <a:ext cx="900000" cy="751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62C222-13B4-DE82-56D2-1679C74EC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5927" y="194389"/>
            <a:ext cx="900000" cy="50539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52F460E-414D-4741-A122-09BF2E3DA6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5242" y="103188"/>
            <a:ext cx="900000" cy="68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4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F336-C47C-B26F-2802-61ED4BB12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C7859A-9BCA-7181-A5E9-0E0A548F9185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PRUEBA ORIGINAL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CC85B0-7899-C530-ECA3-74F721F809B2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A9EB3E6D-7275-C656-99FE-329B9CCAFF60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232236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7D821-B79A-9ACE-B201-F8CE50CF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197A21-6F58-AFE0-C0F4-EC206B10F591}"/>
                  </a:ext>
                </a:extLst>
              </p:cNvPr>
              <p:cNvSpPr txBox="1"/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=| 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197A21-6F58-AFE0-C0F4-EC206B10F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blipFill>
                <a:blip r:embed="rId2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87340B-B1F3-A558-A051-485C33DE981B}"/>
              </a:ext>
            </a:extLst>
          </p:cNvPr>
          <p:cNvSpPr txBox="1"/>
          <p:nvPr/>
        </p:nvSpPr>
        <p:spPr>
          <a:xfrm>
            <a:off x="461757" y="2256196"/>
            <a:ext cx="539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calculan los desvíos absolutos de la </a:t>
            </a:r>
            <a:r>
              <a:rPr lang="es-ES" b="1" dirty="0"/>
              <a:t>media aritmética</a:t>
            </a:r>
            <a:r>
              <a:rPr lang="es-E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4D430-0102-273C-B4AC-2FEC13D02393}"/>
              </a:ext>
            </a:extLst>
          </p:cNvPr>
          <p:cNvSpPr txBox="1"/>
          <p:nvPr/>
        </p:nvSpPr>
        <p:spPr>
          <a:xfrm>
            <a:off x="468270" y="4758184"/>
            <a:ext cx="5396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Luego se aplica la prueba </a:t>
            </a:r>
            <a:r>
              <a:rPr lang="es-ES" b="1" dirty="0"/>
              <a:t>ANOVA</a:t>
            </a:r>
            <a:r>
              <a:rPr lang="es-ES" dirty="0"/>
              <a:t> sobre los desvíos absolutos muestrales.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49BF29-5E4F-81ED-012B-C162B805D94F}"/>
                  </a:ext>
                </a:extLst>
              </p:cNvPr>
              <p:cNvSpPr txBox="1"/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dirty="0"/>
                  <a:t> es la observación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49BF29-5E4F-81ED-012B-C162B805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blipFill>
                <a:blip r:embed="rId3"/>
                <a:stretch>
                  <a:fillRect l="-791" t="-7813" b="-203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CD3D41-EBA5-C8C2-8F66-30E03FDED4A6}"/>
                  </a:ext>
                </a:extLst>
              </p:cNvPr>
              <p:cNvSpPr txBox="1"/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es la media aritmética muestral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CD3D41-EBA5-C8C2-8F66-30E03FDED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blipFill>
                <a:blip r:embed="rId4"/>
                <a:stretch>
                  <a:fillRect l="-791" t="-7692"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C5578D3-DF3E-C778-39C1-06FBD7C786DA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Atkinson Hyperlegible" pitchFamily="2" charset="0"/>
              </a:rPr>
              <a:t>PRUEBA ORIGINAL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7B61C3-12EA-C4D3-C910-F4FB53D52D4E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7789C171-194A-7CC2-42E9-EE21AF5F4CC8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64AFD499-EC72-5B61-2F63-A1A675E114D1}"/>
              </a:ext>
            </a:extLst>
          </p:cNvPr>
          <p:cNvSpPr/>
          <p:nvPr/>
        </p:nvSpPr>
        <p:spPr>
          <a:xfrm>
            <a:off x="8595438" y="2232234"/>
            <a:ext cx="865800" cy="720000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>
              <a:latin typeface="Atkinson Hyperlegible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CFEA89-A0EB-78F9-F375-F79914700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53" y="2052234"/>
            <a:ext cx="1671100" cy="10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413C2-E0F4-7331-F72F-38924F255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2523" y="2052009"/>
            <a:ext cx="1664308" cy="108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4874B-DDA2-6430-9768-5F01EE6AE1FA}"/>
              </a:ext>
            </a:extLst>
          </p:cNvPr>
          <p:cNvSpPr txBox="1"/>
          <p:nvPr/>
        </p:nvSpPr>
        <p:spPr>
          <a:xfrm>
            <a:off x="7424184" y="3640765"/>
            <a:ext cx="283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¿Normalidad?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B8138B-B610-B000-2B19-775E77EFEFCF}"/>
              </a:ext>
            </a:extLst>
          </p:cNvPr>
          <p:cNvSpPr txBox="1"/>
          <p:nvPr/>
        </p:nvSpPr>
        <p:spPr>
          <a:xfrm>
            <a:off x="7424184" y="4041932"/>
            <a:ext cx="341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¿Distribuciones asimétricas?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C86635-1D5A-856C-8AFA-751905C81FAF}"/>
              </a:ext>
            </a:extLst>
          </p:cNvPr>
          <p:cNvSpPr txBox="1"/>
          <p:nvPr/>
        </p:nvSpPr>
        <p:spPr>
          <a:xfrm>
            <a:off x="7424184" y="4443099"/>
            <a:ext cx="283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¿Muestras pequeñas?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A7544B-221F-6D32-5AC5-CBB575E12FA2}"/>
              </a:ext>
            </a:extLst>
          </p:cNvPr>
          <p:cNvSpPr txBox="1"/>
          <p:nvPr/>
        </p:nvSpPr>
        <p:spPr>
          <a:xfrm>
            <a:off x="7424183" y="4844266"/>
            <a:ext cx="283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¿Múltiples grupos?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86A870-30BF-0AA7-A38E-7AAEBEBE050D}"/>
              </a:ext>
            </a:extLst>
          </p:cNvPr>
          <p:cNvSpPr txBox="1"/>
          <p:nvPr/>
        </p:nvSpPr>
        <p:spPr>
          <a:xfrm>
            <a:off x="7424183" y="5245433"/>
            <a:ext cx="283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¿Valores atípicos?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30E014-797F-E9D1-D89E-E4FEFA534A08}"/>
              </a:ext>
            </a:extLst>
          </p:cNvPr>
          <p:cNvSpPr txBox="1"/>
          <p:nvPr/>
        </p:nvSpPr>
        <p:spPr>
          <a:xfrm>
            <a:off x="7436622" y="5584447"/>
            <a:ext cx="2831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/>
              <a:t>¿Potencia?</a:t>
            </a:r>
          </a:p>
        </p:txBody>
      </p:sp>
    </p:spTree>
    <p:extLst>
      <p:ext uri="{BB962C8B-B14F-4D97-AF65-F5344CB8AC3E}">
        <p14:creationId xmlns:p14="http://schemas.microsoft.com/office/powerpoint/2010/main" val="1118378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  <p:bldP spid="17" grpId="0"/>
      <p:bldP spid="18" grpId="0"/>
      <p:bldP spid="19" grpId="0"/>
      <p:bldP spid="23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38D6-1E24-963E-0103-16E6B95A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BB5D05-AA78-1264-F221-2DFB81E816A6}"/>
                  </a:ext>
                </a:extLst>
              </p:cNvPr>
              <p:cNvSpPr txBox="1"/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 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b="1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1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s-ES" b="1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BB5D05-AA78-1264-F221-2DFB81E81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blipFill>
                <a:blip r:embed="rId2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ED38FC8-EA67-B65B-4E5B-598BBFEB4EB7}"/>
              </a:ext>
            </a:extLst>
          </p:cNvPr>
          <p:cNvSpPr txBox="1"/>
          <p:nvPr/>
        </p:nvSpPr>
        <p:spPr>
          <a:xfrm>
            <a:off x="461757" y="2256196"/>
            <a:ext cx="539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 calculan los desvíos absolutos de la 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aritmética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2932A-C1CF-D6FA-BCF0-4717940234C3}"/>
              </a:ext>
            </a:extLst>
          </p:cNvPr>
          <p:cNvSpPr txBox="1"/>
          <p:nvPr/>
        </p:nvSpPr>
        <p:spPr>
          <a:xfrm>
            <a:off x="468270" y="4758184"/>
            <a:ext cx="5396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Luego se aplica la prueba 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ANOVA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sobre los desvíos absolutos muestrales.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EEC771-6AD2-C411-0C6F-3E21DCF583B4}"/>
                  </a:ext>
                </a:extLst>
              </p:cNvPr>
              <p:cNvSpPr txBox="1"/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es la observación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EEC771-6AD2-C411-0C6F-3E21DCF58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blipFill>
                <a:blip r:embed="rId3"/>
                <a:stretch>
                  <a:fillRect l="-791" t="-7813" b="-203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9FE12F-C34B-4371-6CA9-3D83DEEBFEA5}"/>
                  </a:ext>
                </a:extLst>
              </p:cNvPr>
              <p:cNvSpPr txBox="1"/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es la media aritmética muestral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9FE12F-C34B-4371-6CA9-3D83DEEBF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blipFill>
                <a:blip r:embed="rId4"/>
                <a:stretch>
                  <a:fillRect l="-791" t="-7692"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8260432-940E-A5D4-E3DF-44E3FE5A037C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PRUEBA ORIGINAL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1A4960-CAA5-6D99-DED2-CB485FC7A344}"/>
              </a:ext>
            </a:extLst>
          </p:cNvPr>
          <p:cNvSpPr/>
          <p:nvPr/>
        </p:nvSpPr>
        <p:spPr>
          <a:xfrm>
            <a:off x="63288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GENERALIZACIÓN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051FA96-C752-35FF-2113-BB0183FA1978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07B66BC1-B9AC-098B-ECE8-ADFFD527F943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3887898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4393-DDB4-3963-721D-2DE8E44B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A0D146-530F-C7DC-989A-E079227587F2}"/>
                  </a:ext>
                </a:extLst>
              </p:cNvPr>
              <p:cNvSpPr txBox="1"/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=| 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s-ES" b="1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ES" b="1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acc>
                        </m:e>
                        <m:sub>
                          <m:r>
                            <a:rPr lang="es-ES" b="1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b="1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A0D146-530F-C7DC-989A-E07922758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756" y="3009100"/>
                <a:ext cx="5396129" cy="308354"/>
              </a:xfrm>
              <a:prstGeom prst="rect">
                <a:avLst/>
              </a:prstGeom>
              <a:blipFill>
                <a:blip r:embed="rId2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8A391CF-E206-3FC4-2189-A20C30797564}"/>
              </a:ext>
            </a:extLst>
          </p:cNvPr>
          <p:cNvSpPr txBox="1"/>
          <p:nvPr/>
        </p:nvSpPr>
        <p:spPr>
          <a:xfrm>
            <a:off x="461757" y="2256196"/>
            <a:ext cx="5396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 calculan los desvíos absolutos de la 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aritmética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91E0C-C47E-2BF7-780E-A23C7B0B6298}"/>
              </a:ext>
            </a:extLst>
          </p:cNvPr>
          <p:cNvSpPr txBox="1"/>
          <p:nvPr/>
        </p:nvSpPr>
        <p:spPr>
          <a:xfrm>
            <a:off x="468270" y="4758184"/>
            <a:ext cx="5396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Luego se aplica la prueba 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ANOVA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sobre los desvíos absolutos muestrales.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E2446-201E-E5D5-7248-0CA241F35346}"/>
                  </a:ext>
                </a:extLst>
              </p:cNvPr>
              <p:cNvSpPr txBox="1"/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es la observación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E2446-201E-E5D5-7248-0CA241F35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405100"/>
                <a:ext cx="5396129" cy="391646"/>
              </a:xfrm>
              <a:prstGeom prst="rect">
                <a:avLst/>
              </a:prstGeom>
              <a:blipFill>
                <a:blip r:embed="rId3"/>
                <a:stretch>
                  <a:fillRect l="-791" t="-7813" b="-203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D3BBEE-6EE3-67C3-D1BA-665DF76600A0}"/>
                  </a:ext>
                </a:extLst>
              </p:cNvPr>
              <p:cNvSpPr txBox="1"/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s-E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" b="0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</m:e>
                      <m:sub>
                        <m:r>
                          <a:rPr lang="es-ES" b="0" i="1" smtClean="0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es la media aritmética muestral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D3BBEE-6EE3-67C3-D1BA-665DF7660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70" y="3887500"/>
                <a:ext cx="5396129" cy="396712"/>
              </a:xfrm>
              <a:prstGeom prst="rect">
                <a:avLst/>
              </a:prstGeom>
              <a:blipFill>
                <a:blip r:embed="rId4"/>
                <a:stretch>
                  <a:fillRect l="-791" t="-7692"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52A37E7-8811-0F78-09C0-21980493DBAA}"/>
              </a:ext>
            </a:extLst>
          </p:cNvPr>
          <p:cNvSpPr txBox="1"/>
          <p:nvPr/>
        </p:nvSpPr>
        <p:spPr>
          <a:xfrm>
            <a:off x="6328801" y="2256196"/>
            <a:ext cx="5399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calculan los desvíos absolutos de alguna </a:t>
            </a:r>
            <a:r>
              <a:rPr lang="es-ES" b="1" dirty="0"/>
              <a:t>medida de </a:t>
            </a:r>
          </a:p>
          <a:p>
            <a:r>
              <a:rPr lang="es-ES" b="1" dirty="0"/>
              <a:t>centralidad.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313864-AEA6-6472-4328-7065F176443D}"/>
                  </a:ext>
                </a:extLst>
              </p:cNvPr>
              <p:cNvSpPr txBox="1"/>
              <p:nvPr/>
            </p:nvSpPr>
            <p:spPr>
              <a:xfrm>
                <a:off x="6321856" y="3008637"/>
                <a:ext cx="5406944" cy="303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=| 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𝒊𝒋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313864-AEA6-6472-4328-7065F1764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856" y="3008637"/>
                <a:ext cx="5406944" cy="303288"/>
              </a:xfrm>
              <a:prstGeom prst="rect">
                <a:avLst/>
              </a:prstGeom>
              <a:blipFill>
                <a:blip r:embed="rId5"/>
                <a:stretch>
                  <a:fillRect t="-2041" b="-2653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CC6CBC-448C-B40C-1E7C-335F166CEF4C}"/>
                  </a:ext>
                </a:extLst>
              </p:cNvPr>
              <p:cNvSpPr txBox="1"/>
              <p:nvPr/>
            </p:nvSpPr>
            <p:spPr>
              <a:xfrm>
                <a:off x="6328800" y="3403700"/>
                <a:ext cx="5406944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ES" dirty="0"/>
                  <a:t> es la observación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s-ES" dirty="0"/>
                  <a:t>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CC6CBC-448C-B40C-1E7C-335F166CE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800" y="3403700"/>
                <a:ext cx="5406944" cy="391646"/>
              </a:xfrm>
              <a:prstGeom prst="rect">
                <a:avLst/>
              </a:prstGeom>
              <a:blipFill>
                <a:blip r:embed="rId6"/>
                <a:stretch>
                  <a:fillRect l="-676" t="-6154"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7C8D15-D30D-3EB0-CAA4-7F74707898AB}"/>
                  </a:ext>
                </a:extLst>
              </p:cNvPr>
              <p:cNvSpPr txBox="1"/>
              <p:nvPr/>
            </p:nvSpPr>
            <p:spPr>
              <a:xfrm>
                <a:off x="6328800" y="3887766"/>
                <a:ext cx="5383101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es la medida de centralidad muestral de la muestra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s-E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7C8D15-D30D-3EB0-CAA4-7F7470789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800" y="3887766"/>
                <a:ext cx="5383101" cy="668645"/>
              </a:xfrm>
              <a:prstGeom prst="rect">
                <a:avLst/>
              </a:prstGeom>
              <a:blipFill>
                <a:blip r:embed="rId7"/>
                <a:stretch>
                  <a:fillRect l="-680" t="-4587" b="-146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5C51F6A-DE26-EC13-97DB-AC236F438FCB}"/>
              </a:ext>
            </a:extLst>
          </p:cNvPr>
          <p:cNvSpPr txBox="1"/>
          <p:nvPr/>
        </p:nvSpPr>
        <p:spPr>
          <a:xfrm>
            <a:off x="6339525" y="4758183"/>
            <a:ext cx="5378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Luego se aplica una </a:t>
            </a:r>
            <a:r>
              <a:rPr lang="es-ES" b="1" dirty="0"/>
              <a:t>prueba de localización </a:t>
            </a:r>
            <a:r>
              <a:rPr lang="es-ES" dirty="0"/>
              <a:t>sobre los desvíos absolutos muestrales.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6983562-8C9D-75FB-7003-52B223009A3E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PRUEBA ORIGINAL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AF96327-A5E7-E5C3-B728-D18F53876D8D}"/>
              </a:ext>
            </a:extLst>
          </p:cNvPr>
          <p:cNvSpPr/>
          <p:nvPr/>
        </p:nvSpPr>
        <p:spPr>
          <a:xfrm>
            <a:off x="6328800" y="1080000"/>
            <a:ext cx="5400000" cy="8096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Atkinson Hyperlegible" pitchFamily="2" charset="0"/>
              </a:rPr>
              <a:t>GENERALIZACIÓN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D0E2C32-68A9-5424-3E75-E572F32C8E2E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28931DCB-8DAD-C1B4-4EF9-EAFAA6434804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3967221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4508-A309-A15A-17D9-4E487E4D3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201004D-1362-CD97-4C3D-367CA39B0B8F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65E7469F-05E5-5D4E-09BB-3E8756C3F60E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ACA03A-38D6-A314-6D4B-89B6D297BC52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MEDIDAS DE CENTRALIDAD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DF3152-1B29-3E8C-80F3-37C362C9B543}"/>
              </a:ext>
            </a:extLst>
          </p:cNvPr>
          <p:cNvSpPr/>
          <p:nvPr/>
        </p:nvSpPr>
        <p:spPr>
          <a:xfrm>
            <a:off x="63288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PRUEBAS DE LOCALIZACIÓN</a:t>
            </a:r>
          </a:p>
        </p:txBody>
      </p:sp>
    </p:spTree>
    <p:extLst>
      <p:ext uri="{BB962C8B-B14F-4D97-AF65-F5344CB8AC3E}">
        <p14:creationId xmlns:p14="http://schemas.microsoft.com/office/powerpoint/2010/main" val="2484138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451B4-FBB1-4322-4166-A62C9EB0B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CD0576A-0CC3-970C-4CA9-62645CA08A8E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56C686CA-E999-2259-E4CE-4A4D464BBDAB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405050-2FEE-FF8D-8CCF-E2D1F56E30A7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Atkinson Hyperlegible" pitchFamily="2" charset="0"/>
              </a:rPr>
              <a:t>MEDIDAS DE CENTRALIDAD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E86C43-5176-82C1-3728-BC17B37EB777}"/>
              </a:ext>
            </a:extLst>
          </p:cNvPr>
          <p:cNvSpPr/>
          <p:nvPr/>
        </p:nvSpPr>
        <p:spPr>
          <a:xfrm>
            <a:off x="63288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PRUEBAS DE LOCALIZACIÓN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7D42C88-899D-7830-B53F-484488125C4B}"/>
              </a:ext>
            </a:extLst>
          </p:cNvPr>
          <p:cNvSpPr/>
          <p:nvPr/>
        </p:nvSpPr>
        <p:spPr>
          <a:xfrm>
            <a:off x="516441" y="2091065"/>
            <a:ext cx="2510809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ARITMÉTICA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042479-E38F-3D20-7736-8F059FEAFA5A}"/>
              </a:ext>
            </a:extLst>
          </p:cNvPr>
          <p:cNvSpPr/>
          <p:nvPr/>
        </p:nvSpPr>
        <p:spPr>
          <a:xfrm>
            <a:off x="3352800" y="2128822"/>
            <a:ext cx="2510809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MODIFICADA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45F967-B6C6-FBA3-BBE4-9F34464AF900}"/>
              </a:ext>
            </a:extLst>
          </p:cNvPr>
          <p:cNvSpPr/>
          <p:nvPr/>
        </p:nvSpPr>
        <p:spPr>
          <a:xfrm>
            <a:off x="516440" y="3594513"/>
            <a:ext cx="2510809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INTERCUARTIL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3595BA2-9DB6-D0B7-16E1-15F4E506BE80}"/>
              </a:ext>
            </a:extLst>
          </p:cNvPr>
          <p:cNvSpPr/>
          <p:nvPr/>
        </p:nvSpPr>
        <p:spPr>
          <a:xfrm>
            <a:off x="3352393" y="3608813"/>
            <a:ext cx="2510809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MEDIANA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DEF663-9067-67C2-E003-28D5D127005B}"/>
              </a:ext>
            </a:extLst>
          </p:cNvPr>
          <p:cNvSpPr/>
          <p:nvPr/>
        </p:nvSpPr>
        <p:spPr>
          <a:xfrm>
            <a:off x="1439719" y="5085598"/>
            <a:ext cx="3629433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BICUADRADA DE TUKEY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F42EE7-4329-BB5B-CFF9-EF715CC50068}"/>
                  </a:ext>
                </a:extLst>
              </p:cNvPr>
              <p:cNvSpPr txBox="1"/>
              <p:nvPr/>
            </p:nvSpPr>
            <p:spPr>
              <a:xfrm>
                <a:off x="825623" y="2495887"/>
                <a:ext cx="2059619" cy="69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AF42EE7-4329-BB5B-CFF9-EF715CC50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623" y="2495887"/>
                <a:ext cx="2059619" cy="6908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DDD3E5-D33C-D9CE-363C-44C392D6C61F}"/>
                  </a:ext>
                </a:extLst>
              </p:cNvPr>
              <p:cNvSpPr txBox="1"/>
              <p:nvPr/>
            </p:nvSpPr>
            <p:spPr>
              <a:xfrm>
                <a:off x="3352393" y="2552331"/>
                <a:ext cx="2059619" cy="690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BDDD3E5-D33C-D9CE-363C-44C392D6C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393" y="2552331"/>
                <a:ext cx="2059619" cy="6908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val 25">
            <a:extLst>
              <a:ext uri="{FF2B5EF4-FFF2-40B4-BE49-F238E27FC236}">
                <a16:creationId xmlns:a16="http://schemas.microsoft.com/office/drawing/2014/main" id="{A4B791E1-324E-A68B-92AB-4D8201175426}"/>
              </a:ext>
            </a:extLst>
          </p:cNvPr>
          <p:cNvSpPr/>
          <p:nvPr/>
        </p:nvSpPr>
        <p:spPr>
          <a:xfrm>
            <a:off x="825623" y="3226528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25B9CC-9E6E-E1F0-E620-BD5010A3CD2A}"/>
              </a:ext>
            </a:extLst>
          </p:cNvPr>
          <p:cNvSpPr/>
          <p:nvPr/>
        </p:nvSpPr>
        <p:spPr>
          <a:xfrm>
            <a:off x="1051421" y="3226528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D527F7-A8E7-C2F8-E248-F1FC7513C9DA}"/>
              </a:ext>
            </a:extLst>
          </p:cNvPr>
          <p:cNvSpPr/>
          <p:nvPr/>
        </p:nvSpPr>
        <p:spPr>
          <a:xfrm>
            <a:off x="1277219" y="322562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C3C4451-5476-14FF-9359-53750651E1ED}"/>
              </a:ext>
            </a:extLst>
          </p:cNvPr>
          <p:cNvSpPr/>
          <p:nvPr/>
        </p:nvSpPr>
        <p:spPr>
          <a:xfrm>
            <a:off x="1503017" y="3226528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B655DFC-4EFA-6103-DE4B-150689FBA4C3}"/>
              </a:ext>
            </a:extLst>
          </p:cNvPr>
          <p:cNvSpPr/>
          <p:nvPr/>
        </p:nvSpPr>
        <p:spPr>
          <a:xfrm>
            <a:off x="1748155" y="323186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C8880A7-B3EF-B43B-FE3D-3724BA3EBA27}"/>
              </a:ext>
            </a:extLst>
          </p:cNvPr>
          <p:cNvSpPr/>
          <p:nvPr/>
        </p:nvSpPr>
        <p:spPr>
          <a:xfrm>
            <a:off x="1973953" y="323186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A9CE91-CE18-D08C-4C76-EF097876A809}"/>
              </a:ext>
            </a:extLst>
          </p:cNvPr>
          <p:cNvSpPr/>
          <p:nvPr/>
        </p:nvSpPr>
        <p:spPr>
          <a:xfrm>
            <a:off x="2199751" y="3230952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532C80A-03FC-4C19-BA49-B35EF0914041}"/>
              </a:ext>
            </a:extLst>
          </p:cNvPr>
          <p:cNvSpPr/>
          <p:nvPr/>
        </p:nvSpPr>
        <p:spPr>
          <a:xfrm>
            <a:off x="2425549" y="323186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676F409-4ED8-DB31-AC1E-72738D4021A8}"/>
              </a:ext>
            </a:extLst>
          </p:cNvPr>
          <p:cNvSpPr/>
          <p:nvPr/>
        </p:nvSpPr>
        <p:spPr>
          <a:xfrm>
            <a:off x="3680622" y="3226528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B9543D-FB23-AC25-32C7-09BC0F8D2E93}"/>
              </a:ext>
            </a:extLst>
          </p:cNvPr>
          <p:cNvSpPr/>
          <p:nvPr/>
        </p:nvSpPr>
        <p:spPr>
          <a:xfrm>
            <a:off x="3906420" y="3226528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82BDD38-F51F-B234-1714-0598B39D11C0}"/>
              </a:ext>
            </a:extLst>
          </p:cNvPr>
          <p:cNvSpPr/>
          <p:nvPr/>
        </p:nvSpPr>
        <p:spPr>
          <a:xfrm>
            <a:off x="4132218" y="322562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339CEA7-1B9A-583A-54E0-74B406A6DE4D}"/>
              </a:ext>
            </a:extLst>
          </p:cNvPr>
          <p:cNvSpPr/>
          <p:nvPr/>
        </p:nvSpPr>
        <p:spPr>
          <a:xfrm>
            <a:off x="4358016" y="3226528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35E40A-75BE-4CA2-22F2-2261BAA50D46}"/>
              </a:ext>
            </a:extLst>
          </p:cNvPr>
          <p:cNvSpPr/>
          <p:nvPr/>
        </p:nvSpPr>
        <p:spPr>
          <a:xfrm>
            <a:off x="4603154" y="323186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AC3767-189E-E92E-C13F-990A1BA82E8D}"/>
              </a:ext>
            </a:extLst>
          </p:cNvPr>
          <p:cNvSpPr/>
          <p:nvPr/>
        </p:nvSpPr>
        <p:spPr>
          <a:xfrm>
            <a:off x="4828952" y="3231860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5886967-DF87-65FF-1A0F-E56F3020DE55}"/>
              </a:ext>
            </a:extLst>
          </p:cNvPr>
          <p:cNvSpPr/>
          <p:nvPr/>
        </p:nvSpPr>
        <p:spPr>
          <a:xfrm>
            <a:off x="5054750" y="3230952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7B74897-AA7E-2939-60AB-9BDEC2CA6A7C}"/>
              </a:ext>
            </a:extLst>
          </p:cNvPr>
          <p:cNvSpPr/>
          <p:nvPr/>
        </p:nvSpPr>
        <p:spPr>
          <a:xfrm>
            <a:off x="5280548" y="3231860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B212D26-7A94-1A21-4376-24AC9F772907}"/>
              </a:ext>
            </a:extLst>
          </p:cNvPr>
          <p:cNvSpPr/>
          <p:nvPr/>
        </p:nvSpPr>
        <p:spPr>
          <a:xfrm>
            <a:off x="779825" y="4835172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92A2EAA-DF18-91DD-08A8-C38AC4A71E72}"/>
              </a:ext>
            </a:extLst>
          </p:cNvPr>
          <p:cNvSpPr/>
          <p:nvPr/>
        </p:nvSpPr>
        <p:spPr>
          <a:xfrm>
            <a:off x="1005623" y="4835172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DDA9A35-5811-B250-3B62-FED793033988}"/>
              </a:ext>
            </a:extLst>
          </p:cNvPr>
          <p:cNvSpPr/>
          <p:nvPr/>
        </p:nvSpPr>
        <p:spPr>
          <a:xfrm>
            <a:off x="1231421" y="4834264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ABFD907-4C5A-73E7-418F-AFC6876F8829}"/>
              </a:ext>
            </a:extLst>
          </p:cNvPr>
          <p:cNvSpPr/>
          <p:nvPr/>
        </p:nvSpPr>
        <p:spPr>
          <a:xfrm>
            <a:off x="1457219" y="4835172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E20C649-FB67-D97C-763C-CD67BC95410D}"/>
              </a:ext>
            </a:extLst>
          </p:cNvPr>
          <p:cNvSpPr/>
          <p:nvPr/>
        </p:nvSpPr>
        <p:spPr>
          <a:xfrm>
            <a:off x="1702357" y="4840504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17550B8-BC3B-E509-7EBC-767A3684CC7C}"/>
              </a:ext>
            </a:extLst>
          </p:cNvPr>
          <p:cNvSpPr/>
          <p:nvPr/>
        </p:nvSpPr>
        <p:spPr>
          <a:xfrm>
            <a:off x="1928155" y="4840504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A9D1E62-20BF-6EF9-5DA9-69AE4AC79E75}"/>
              </a:ext>
            </a:extLst>
          </p:cNvPr>
          <p:cNvSpPr/>
          <p:nvPr/>
        </p:nvSpPr>
        <p:spPr>
          <a:xfrm>
            <a:off x="2153953" y="4839596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BB23C5C-449C-43F3-AB87-734BD23EA389}"/>
              </a:ext>
            </a:extLst>
          </p:cNvPr>
          <p:cNvSpPr/>
          <p:nvPr/>
        </p:nvSpPr>
        <p:spPr>
          <a:xfrm>
            <a:off x="2379751" y="4840504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EDEBEC-3143-70EB-796E-3CE60741D07C}"/>
                  </a:ext>
                </a:extLst>
              </p:cNvPr>
              <p:cNvSpPr txBox="1"/>
              <p:nvPr/>
            </p:nvSpPr>
            <p:spPr>
              <a:xfrm>
                <a:off x="718345" y="4030013"/>
                <a:ext cx="2059619" cy="840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f>
                                <m:fPr>
                                  <m:ctrlP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s-E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6EDEBEC-3143-70EB-796E-3CE60741D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45" y="4030013"/>
                <a:ext cx="2059619" cy="8405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Oval 52">
            <a:extLst>
              <a:ext uri="{FF2B5EF4-FFF2-40B4-BE49-F238E27FC236}">
                <a16:creationId xmlns:a16="http://schemas.microsoft.com/office/drawing/2014/main" id="{AC3069F8-8513-FDC5-EA2F-5B29D9C93EA3}"/>
              </a:ext>
            </a:extLst>
          </p:cNvPr>
          <p:cNvSpPr/>
          <p:nvPr/>
        </p:nvSpPr>
        <p:spPr>
          <a:xfrm>
            <a:off x="3688207" y="482083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E17A9FD-52F8-F348-9CA2-2E9B8C9C9DF8}"/>
              </a:ext>
            </a:extLst>
          </p:cNvPr>
          <p:cNvSpPr/>
          <p:nvPr/>
        </p:nvSpPr>
        <p:spPr>
          <a:xfrm>
            <a:off x="3914005" y="4820837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0B379F-3F7B-68B8-BC4E-45E9962EBB0B}"/>
              </a:ext>
            </a:extLst>
          </p:cNvPr>
          <p:cNvSpPr/>
          <p:nvPr/>
        </p:nvSpPr>
        <p:spPr>
          <a:xfrm>
            <a:off x="4139803" y="481992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15CE17E-66CD-22AB-07CC-58609DCC32EC}"/>
              </a:ext>
            </a:extLst>
          </p:cNvPr>
          <p:cNvSpPr/>
          <p:nvPr/>
        </p:nvSpPr>
        <p:spPr>
          <a:xfrm>
            <a:off x="4365601" y="4820837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BAA74B9-A740-5D76-EBE9-DD2828760E83}"/>
              </a:ext>
            </a:extLst>
          </p:cNvPr>
          <p:cNvSpPr/>
          <p:nvPr/>
        </p:nvSpPr>
        <p:spPr>
          <a:xfrm>
            <a:off x="4610739" y="4826169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2577F2-5056-AD1D-18F1-8F903A7DAF33}"/>
              </a:ext>
            </a:extLst>
          </p:cNvPr>
          <p:cNvSpPr/>
          <p:nvPr/>
        </p:nvSpPr>
        <p:spPr>
          <a:xfrm>
            <a:off x="4836537" y="482616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34B97B1B-0782-72F0-25C6-80873560B398}"/>
              </a:ext>
            </a:extLst>
          </p:cNvPr>
          <p:cNvSpPr/>
          <p:nvPr/>
        </p:nvSpPr>
        <p:spPr>
          <a:xfrm>
            <a:off x="5062335" y="4825261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12E8280-7296-FD8F-521F-588644923684}"/>
              </a:ext>
            </a:extLst>
          </p:cNvPr>
          <p:cNvSpPr/>
          <p:nvPr/>
        </p:nvSpPr>
        <p:spPr>
          <a:xfrm>
            <a:off x="5288133" y="4826169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B7B7BB8-2E69-40CD-B067-07F954DA69EE}"/>
                  </a:ext>
                </a:extLst>
              </p:cNvPr>
              <p:cNvSpPr txBox="1"/>
              <p:nvPr/>
            </p:nvSpPr>
            <p:spPr>
              <a:xfrm>
                <a:off x="3626727" y="4015678"/>
                <a:ext cx="2059619" cy="849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s-E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f>
                            <m:f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s-E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s-E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ES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s-E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s-E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B7B7BB8-2E69-40CD-B067-07F954DA6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6727" y="4015678"/>
                <a:ext cx="2059619" cy="84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D8D07D8-6DE6-0DF4-AEEE-055E70829FA6}"/>
                  </a:ext>
                </a:extLst>
              </p:cNvPr>
              <p:cNvSpPr txBox="1"/>
              <p:nvPr/>
            </p:nvSpPr>
            <p:spPr>
              <a:xfrm>
                <a:off x="2178281" y="5553490"/>
                <a:ext cx="2059619" cy="636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unc>
                              <m:func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s-ES" b="0" i="0" smtClean="0"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</m:fName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e>
                            </m:func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mr>
                      </m:m>
                      <m:nary>
                        <m:naryPr>
                          <m:chr m:val="∑"/>
                          <m:limLoc m:val="subSup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D8D07D8-6DE6-0DF4-AEEE-055E70829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281" y="5553490"/>
                <a:ext cx="2059619" cy="636585"/>
              </a:xfrm>
              <a:prstGeom prst="rect">
                <a:avLst/>
              </a:prstGeom>
              <a:blipFill>
                <a:blip r:embed="rId6"/>
                <a:stretch>
                  <a:fillRect r="-2514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8103B655-741D-428C-6A3C-2520EBD5A482}"/>
              </a:ext>
            </a:extLst>
          </p:cNvPr>
          <p:cNvSpPr/>
          <p:nvPr/>
        </p:nvSpPr>
        <p:spPr>
          <a:xfrm>
            <a:off x="2178281" y="6284131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CC9E95E-B45F-C86A-D7D8-247F0FBC2866}"/>
              </a:ext>
            </a:extLst>
          </p:cNvPr>
          <p:cNvSpPr/>
          <p:nvPr/>
        </p:nvSpPr>
        <p:spPr>
          <a:xfrm>
            <a:off x="2404079" y="6284131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3489F1B-EE42-0FF7-098B-46FA15EED7F9}"/>
              </a:ext>
            </a:extLst>
          </p:cNvPr>
          <p:cNvSpPr/>
          <p:nvPr/>
        </p:nvSpPr>
        <p:spPr>
          <a:xfrm>
            <a:off x="2629877" y="6283223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D81B0AC8-F1EF-9952-AD81-91F6889D3A07}"/>
              </a:ext>
            </a:extLst>
          </p:cNvPr>
          <p:cNvSpPr/>
          <p:nvPr/>
        </p:nvSpPr>
        <p:spPr>
          <a:xfrm>
            <a:off x="2855675" y="6284131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DFB420D-7727-DFF2-DAAF-276A84316B24}"/>
              </a:ext>
            </a:extLst>
          </p:cNvPr>
          <p:cNvSpPr/>
          <p:nvPr/>
        </p:nvSpPr>
        <p:spPr>
          <a:xfrm>
            <a:off x="3100813" y="6289463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D2B233D5-5745-6697-9EA8-718B5BB05B1C}"/>
              </a:ext>
            </a:extLst>
          </p:cNvPr>
          <p:cNvSpPr/>
          <p:nvPr/>
        </p:nvSpPr>
        <p:spPr>
          <a:xfrm>
            <a:off x="3326611" y="6289463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1DDAFBA-35D0-8D05-DE96-B085DC293EE1}"/>
              </a:ext>
            </a:extLst>
          </p:cNvPr>
          <p:cNvSpPr/>
          <p:nvPr/>
        </p:nvSpPr>
        <p:spPr>
          <a:xfrm>
            <a:off x="3552409" y="6288555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1C91E75-DF4C-FD2C-D0E8-C90A7499BE41}"/>
              </a:ext>
            </a:extLst>
          </p:cNvPr>
          <p:cNvSpPr/>
          <p:nvPr/>
        </p:nvSpPr>
        <p:spPr>
          <a:xfrm>
            <a:off x="4571309" y="6289463"/>
            <a:ext cx="180000" cy="180000"/>
          </a:xfrm>
          <a:prstGeom prst="ellipse">
            <a:avLst/>
          </a:prstGeom>
          <a:solidFill>
            <a:schemeClr val="bg1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07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  <p:bldP spid="12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E3C1-FA9F-D711-2C13-6987CC5B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EA3C88-85DA-9DAC-B903-000768363CCB}"/>
                  </a:ext>
                </a:extLst>
              </p:cNvPr>
              <p:cNvSpPr txBox="1"/>
              <p:nvPr/>
            </p:nvSpPr>
            <p:spPr>
              <a:xfrm>
                <a:off x="6328799" y="2448816"/>
                <a:ext cx="20402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…=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EA3C88-85DA-9DAC-B903-000768363C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99" y="2448816"/>
                <a:ext cx="2040294" cy="369332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8FDA4F-078D-3DF9-2267-66CB5EB68EE7}"/>
                  </a:ext>
                </a:extLst>
              </p:cNvPr>
              <p:cNvSpPr txBox="1"/>
              <p:nvPr/>
            </p:nvSpPr>
            <p:spPr>
              <a:xfrm>
                <a:off x="9028800" y="2401759"/>
                <a:ext cx="20402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…=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C8FDA4F-078D-3DF9-2267-66CB5EB68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800" y="2401759"/>
                <a:ext cx="2040294" cy="369332"/>
              </a:xfrm>
              <a:prstGeom prst="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4366A-FED5-1D40-FF61-F2438F12ED96}"/>
                  </a:ext>
                </a:extLst>
              </p:cNvPr>
              <p:cNvSpPr txBox="1"/>
              <p:nvPr/>
            </p:nvSpPr>
            <p:spPr>
              <a:xfrm>
                <a:off x="6328798" y="3707594"/>
                <a:ext cx="23715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…=</m:t>
                      </m:r>
                      <m:sSub>
                        <m:sSub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b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774366A-FED5-1D40-FF61-F2438F12ED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98" y="3707594"/>
                <a:ext cx="237158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F21304-2ACD-2190-9737-69840DC2D549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CD6831A0-CA74-88E9-12A1-132BDD3B02DE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PRUEBAS TIPO-LEVENE</a:t>
            </a:r>
            <a:endParaRPr lang="es-ES" sz="4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070700-F770-DEB2-303F-82270FCCF570}"/>
              </a:ext>
            </a:extLst>
          </p:cNvPr>
          <p:cNvSpPr txBox="1"/>
          <p:nvPr/>
        </p:nvSpPr>
        <p:spPr>
          <a:xfrm>
            <a:off x="6328799" y="5316335"/>
            <a:ext cx="2912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Van Der </a:t>
            </a:r>
            <a:r>
              <a:rPr lang="es-ES" i="1" dirty="0" err="1"/>
              <a:t>Waerden</a:t>
            </a:r>
            <a:endParaRPr lang="es-ES" i="1" dirty="0"/>
          </a:p>
          <a:p>
            <a:r>
              <a:rPr lang="es-ES" i="1" dirty="0" err="1"/>
              <a:t>Mood</a:t>
            </a:r>
            <a:endParaRPr lang="es-ES" i="1" dirty="0"/>
          </a:p>
          <a:p>
            <a:r>
              <a:rPr lang="es-ES" i="1" dirty="0"/>
              <a:t>MLG gamma</a:t>
            </a:r>
            <a:endParaRPr lang="es-E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ECF2D3-76B4-7CD7-EAC1-41D14365F30A}"/>
              </a:ext>
            </a:extLst>
          </p:cNvPr>
          <p:cNvSpPr/>
          <p:nvPr/>
        </p:nvSpPr>
        <p:spPr>
          <a:xfrm>
            <a:off x="464400" y="1080000"/>
            <a:ext cx="5400000" cy="80962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tkinson Hyperlegible" pitchFamily="2" charset="0"/>
              </a:rPr>
              <a:t>MEDIDAS DE CENTRALIDAD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839FB0-5EAF-FF63-6DD9-3CF23282B4CC}"/>
              </a:ext>
            </a:extLst>
          </p:cNvPr>
          <p:cNvSpPr/>
          <p:nvPr/>
        </p:nvSpPr>
        <p:spPr>
          <a:xfrm>
            <a:off x="6328800" y="1080000"/>
            <a:ext cx="5400000" cy="80962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latin typeface="Atkinson Hyperlegible" pitchFamily="2" charset="0"/>
              </a:rPr>
              <a:t>PRUEBAS DE LOCALIZACIÓN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9F7A44-7A15-C92B-6C7D-3BFBBED96DA3}"/>
              </a:ext>
            </a:extLst>
          </p:cNvPr>
          <p:cNvSpPr/>
          <p:nvPr/>
        </p:nvSpPr>
        <p:spPr>
          <a:xfrm>
            <a:off x="6328393" y="1980559"/>
            <a:ext cx="2510808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ANOVA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D4B42D-A3F8-8D80-2660-D2E2EA93433E}"/>
              </a:ext>
            </a:extLst>
          </p:cNvPr>
          <p:cNvSpPr/>
          <p:nvPr/>
        </p:nvSpPr>
        <p:spPr>
          <a:xfrm>
            <a:off x="7335915" y="3224884"/>
            <a:ext cx="3383371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ANOVA POR PERMUTACIÓN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5BB845-2CDF-11AD-345E-ADD50D28375F}"/>
              </a:ext>
            </a:extLst>
          </p:cNvPr>
          <p:cNvSpPr/>
          <p:nvPr/>
        </p:nvSpPr>
        <p:spPr>
          <a:xfrm>
            <a:off x="9241654" y="1980559"/>
            <a:ext cx="2510810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KRUSKAL - WALLIS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CC84C1-C407-7D26-D898-C930F77C3478}"/>
              </a:ext>
            </a:extLst>
          </p:cNvPr>
          <p:cNvSpPr/>
          <p:nvPr/>
        </p:nvSpPr>
        <p:spPr>
          <a:xfrm>
            <a:off x="7774193" y="4748521"/>
            <a:ext cx="2505485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OTRAS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4DC874-50A8-F2AF-337C-8B111A025E7D}"/>
                  </a:ext>
                </a:extLst>
              </p:cNvPr>
              <p:cNvSpPr txBox="1"/>
              <p:nvPr/>
            </p:nvSpPr>
            <p:spPr>
              <a:xfrm>
                <a:off x="6328798" y="2799421"/>
                <a:ext cx="2700001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media de la población j</a:t>
                </a:r>
                <a:endParaRPr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4DC874-50A8-F2AF-337C-8B111A025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98" y="2799421"/>
                <a:ext cx="2700001" cy="391646"/>
              </a:xfrm>
              <a:prstGeom prst="rect">
                <a:avLst/>
              </a:prstGeom>
              <a:blipFill>
                <a:blip r:embed="rId5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B33DC2-6CA1-DC75-38F4-7438985A82A5}"/>
                  </a:ext>
                </a:extLst>
              </p:cNvPr>
              <p:cNvSpPr txBox="1"/>
              <p:nvPr/>
            </p:nvSpPr>
            <p:spPr>
              <a:xfrm>
                <a:off x="6328799" y="4079920"/>
                <a:ext cx="4572980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: función de distribución del grupo j</a:t>
                </a:r>
                <a:endParaRPr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B33DC2-6CA1-DC75-38F4-7438985A8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8799" y="4079920"/>
                <a:ext cx="4572980" cy="391646"/>
              </a:xfrm>
              <a:prstGeom prst="rect">
                <a:avLst/>
              </a:prstGeom>
              <a:blipFill>
                <a:blip r:embed="rId6"/>
                <a:stretch>
                  <a:fillRect t="-6154" b="-184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9AC9A4-7057-9000-35BA-ED0193BEA678}"/>
              </a:ext>
            </a:extLst>
          </p:cNvPr>
          <p:cNvSpPr/>
          <p:nvPr/>
        </p:nvSpPr>
        <p:spPr>
          <a:xfrm>
            <a:off x="516441" y="2091065"/>
            <a:ext cx="2510809" cy="4212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ARITMÉTICA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475034E-8CA9-3AC5-6176-6CD3AD3F4F0A}"/>
              </a:ext>
            </a:extLst>
          </p:cNvPr>
          <p:cNvSpPr/>
          <p:nvPr/>
        </p:nvSpPr>
        <p:spPr>
          <a:xfrm>
            <a:off x="3352800" y="2128822"/>
            <a:ext cx="2510809" cy="4212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MODIFICADA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79CEFF3-1BF5-36BD-3362-8BE70BD7435E}"/>
              </a:ext>
            </a:extLst>
          </p:cNvPr>
          <p:cNvSpPr/>
          <p:nvPr/>
        </p:nvSpPr>
        <p:spPr>
          <a:xfrm>
            <a:off x="516440" y="3026337"/>
            <a:ext cx="2510809" cy="4212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INTERCUARTIL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DE24BEA-CBBF-4D90-C546-1A1A75396D83}"/>
              </a:ext>
            </a:extLst>
          </p:cNvPr>
          <p:cNvSpPr/>
          <p:nvPr/>
        </p:nvSpPr>
        <p:spPr>
          <a:xfrm>
            <a:off x="3352393" y="3040637"/>
            <a:ext cx="2510809" cy="4212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MEDIANA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6B3E06F-3E3E-636E-BA3A-2B9E6BFB4129}"/>
              </a:ext>
            </a:extLst>
          </p:cNvPr>
          <p:cNvSpPr/>
          <p:nvPr/>
        </p:nvSpPr>
        <p:spPr>
          <a:xfrm>
            <a:off x="1439719" y="4068099"/>
            <a:ext cx="3629433" cy="421200"/>
          </a:xfrm>
          <a:prstGeom prst="roundRect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latin typeface="Atkinson Hyperlegible" pitchFamily="2" charset="0"/>
              </a:rPr>
              <a:t>MEDIA BICUADRADA DE TUKEY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DC2E8DD-BFB1-9AF5-C688-A23F3AF6034D}"/>
                  </a:ext>
                </a:extLst>
              </p:cNvPr>
              <p:cNvSpPr txBox="1"/>
              <p:nvPr/>
            </p:nvSpPr>
            <p:spPr>
              <a:xfrm>
                <a:off x="9204167" y="2756708"/>
                <a:ext cx="2987833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" dirty="0"/>
                  <a:t> mediana de la población j</a:t>
                </a:r>
                <a:endParaRPr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DC2E8DD-BFB1-9AF5-C688-A23F3AF60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167" y="2756708"/>
                <a:ext cx="2987833" cy="391646"/>
              </a:xfrm>
              <a:prstGeom prst="rect">
                <a:avLst/>
              </a:prstGeom>
              <a:blipFill>
                <a:blip r:embed="rId7"/>
                <a:stretch>
                  <a:fillRect t="-6250" b="-2031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FB2CE24-FB78-849B-4521-FD7637BC894C}"/>
              </a:ext>
            </a:extLst>
          </p:cNvPr>
          <p:cNvSpPr txBox="1"/>
          <p:nvPr/>
        </p:nvSpPr>
        <p:spPr>
          <a:xfrm>
            <a:off x="6328799" y="4399896"/>
            <a:ext cx="457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es-ES" dirty="0"/>
              <a:t>“Las etiquetas de grupo son intercambiables”</a:t>
            </a:r>
            <a:endParaRPr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FF7336-3CC3-6C52-AEE0-41664E68C3B9}"/>
              </a:ext>
            </a:extLst>
          </p:cNvPr>
          <p:cNvSpPr txBox="1"/>
          <p:nvPr/>
        </p:nvSpPr>
        <p:spPr>
          <a:xfrm>
            <a:off x="8617836" y="5316335"/>
            <a:ext cx="33236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ANOVA </a:t>
            </a:r>
            <a:r>
              <a:rPr lang="es-ES" i="1" dirty="0" err="1"/>
              <a:t>winzorisado</a:t>
            </a:r>
            <a:endParaRPr lang="es-ES" i="1" dirty="0"/>
          </a:p>
          <a:p>
            <a:r>
              <a:rPr lang="es-ES" i="1" dirty="0"/>
              <a:t>ANOVA + logaritmo </a:t>
            </a:r>
          </a:p>
          <a:p>
            <a:r>
              <a:rPr lang="es-ES" i="1" dirty="0"/>
              <a:t>ANOVA + raíz</a:t>
            </a:r>
          </a:p>
          <a:p>
            <a:r>
              <a:rPr lang="es-ES" i="1" dirty="0"/>
              <a:t>ANOVA de </a:t>
            </a:r>
            <a:r>
              <a:rPr lang="es-ES" i="1" dirty="0" err="1"/>
              <a:t>welch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9614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  <p:bldP spid="12" grpId="0" animBg="1"/>
      <p:bldP spid="25" grpId="0" animBg="1"/>
      <p:bldP spid="26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D1D4A-EA40-1E7B-6889-D93F48D4F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D0C60A-C148-7F4C-8B71-3D379FD99B2A}"/>
              </a:ext>
            </a:extLst>
          </p:cNvPr>
          <p:cNvSpPr/>
          <p:nvPr/>
        </p:nvSpPr>
        <p:spPr>
          <a:xfrm>
            <a:off x="349491" y="1228629"/>
            <a:ext cx="216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DESVÍO ESTANDAR</a:t>
            </a:r>
          </a:p>
          <a:p>
            <a:pPr algn="ctr"/>
            <a:r>
              <a:rPr lang="es-ES" b="1" dirty="0">
                <a:latin typeface="Atkinson Hyperlegible" pitchFamily="2" charset="0"/>
              </a:rPr>
              <a:t>POBLACIONAL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75C970A-F1B4-99F1-B9B5-BF52C59C7C57}"/>
              </a:ext>
            </a:extLst>
          </p:cNvPr>
          <p:cNvSpPr/>
          <p:nvPr/>
        </p:nvSpPr>
        <p:spPr>
          <a:xfrm>
            <a:off x="3511037" y="1229903"/>
            <a:ext cx="216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DISTRIBUCIÓN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56831C-CB97-D6DF-38D3-F8919EE3A187}"/>
              </a:ext>
            </a:extLst>
          </p:cNvPr>
          <p:cNvSpPr/>
          <p:nvPr/>
        </p:nvSpPr>
        <p:spPr>
          <a:xfrm>
            <a:off x="9528984" y="1228629"/>
            <a:ext cx="216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CANTIDAD</a:t>
            </a:r>
          </a:p>
          <a:p>
            <a:pPr algn="ctr"/>
            <a:r>
              <a:rPr lang="es-ES" b="1" dirty="0">
                <a:latin typeface="Atkinson Hyperlegible" pitchFamily="2" charset="0"/>
              </a:rPr>
              <a:t>DE GRUPOS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BB0C28-A273-180B-CAA2-B25FB757F390}"/>
              </a:ext>
            </a:extLst>
          </p:cNvPr>
          <p:cNvSpPr/>
          <p:nvPr/>
        </p:nvSpPr>
        <p:spPr>
          <a:xfrm>
            <a:off x="900000" y="3585127"/>
            <a:ext cx="252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REPETIR 10.000 VECES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3D889D-7C82-192F-5450-F0AD08473160}"/>
              </a:ext>
            </a:extLst>
          </p:cNvPr>
          <p:cNvSpPr/>
          <p:nvPr/>
        </p:nvSpPr>
        <p:spPr>
          <a:xfrm>
            <a:off x="4963731" y="3585127"/>
            <a:ext cx="252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PRUEBA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492BFDF-9CCF-A231-CD75-E0116262CCC7}"/>
              </a:ext>
            </a:extLst>
          </p:cNvPr>
          <p:cNvSpPr/>
          <p:nvPr/>
        </p:nvSpPr>
        <p:spPr>
          <a:xfrm>
            <a:off x="8772000" y="3585127"/>
            <a:ext cx="252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MEDIDA DE CENTRALIDAD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9783595-EE4D-77C4-6436-0AD1968CEEF3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1982450" cy="9525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Diagonal Corners Snipped 41">
            <a:extLst>
              <a:ext uri="{FF2B5EF4-FFF2-40B4-BE49-F238E27FC236}">
                <a16:creationId xmlns:a16="http://schemas.microsoft.com/office/drawing/2014/main" id="{9E2846E5-351B-7523-4A0D-8B27B66DB182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METODOLOGÍA</a:t>
            </a:r>
            <a:endParaRPr lang="es-E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7FF3B8-978A-1737-F1A4-DC95C8B46AD9}"/>
                  </a:ext>
                </a:extLst>
              </p:cNvPr>
              <p:cNvSpPr txBox="1"/>
              <p:nvPr/>
            </p:nvSpPr>
            <p:spPr>
              <a:xfrm>
                <a:off x="311111" y="2101936"/>
                <a:ext cx="324111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s-ES" dirty="0">
                    <a:latin typeface="Atkinson Hyperlegible" pitchFamily="2" charset="0"/>
                  </a:rPr>
                  <a:t>Error tipo I: </a:t>
                </a:r>
                <a:br>
                  <a:rPr lang="es-ES" dirty="0">
                    <a:latin typeface="Atkinson Hyperlegible" pitchFamily="2" charset="0"/>
                  </a:rPr>
                </a:br>
                <a14:m>
                  <m:oMath xmlns:m="http://schemas.openxmlformats.org/officeDocument/2006/math">
                    <m:r>
                      <a:rPr lang="es-ES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s-E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…</m:t>
                    </m:r>
                    <m:r>
                      <a:rPr lang="es-ES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  <m:r>
                      <a:rPr lang="es-ES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s-ES" b="1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s-ES" b="1" dirty="0"/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es-ES" dirty="0">
                    <a:latin typeface="Atkinson Hyperlegible" pitchFamily="2" charset="0"/>
                  </a:rPr>
                  <a:t>Potencia: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s-E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b>
                      </m:sSub>
                      <m:r>
                        <a:rPr lang="es-E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sz="1400" b="1" dirty="0">
                  <a:latin typeface="Atkinson Hyperlegible" pitchFamily="2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57FF3B8-978A-1737-F1A4-DC95C8B46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11" y="2101936"/>
                <a:ext cx="3241116" cy="1477328"/>
              </a:xfrm>
              <a:prstGeom prst="rect">
                <a:avLst/>
              </a:prstGeom>
              <a:blipFill>
                <a:blip r:embed="rId3"/>
                <a:stretch>
                  <a:fillRect l="-1128" t="-247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5BF1882A-DA34-81ED-D23E-84B5F826318A}"/>
              </a:ext>
            </a:extLst>
          </p:cNvPr>
          <p:cNvSpPr txBox="1"/>
          <p:nvPr/>
        </p:nvSpPr>
        <p:spPr>
          <a:xfrm>
            <a:off x="3551587" y="2178076"/>
            <a:ext cx="21250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Normal</a:t>
            </a:r>
            <a:br>
              <a:rPr lang="es-ES" dirty="0">
                <a:latin typeface="Atkinson Hyperlegible" pitchFamily="2" charset="0"/>
              </a:rPr>
            </a:br>
            <a:endParaRPr lang="es-ES" dirty="0">
              <a:latin typeface="Atkinson Hyperlegible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Exponencial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>
              <a:latin typeface="Atkinson Hyperlegible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Otras…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E07DC3-4A85-CE64-86EF-53861D06525D}"/>
              </a:ext>
            </a:extLst>
          </p:cNvPr>
          <p:cNvSpPr txBox="1"/>
          <p:nvPr/>
        </p:nvSpPr>
        <p:spPr>
          <a:xfrm>
            <a:off x="6537617" y="2185864"/>
            <a:ext cx="260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n = 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A2C8F9-A2BF-D028-2941-14E7EE43F465}"/>
              </a:ext>
            </a:extLst>
          </p:cNvPr>
          <p:cNvSpPr txBox="1"/>
          <p:nvPr/>
        </p:nvSpPr>
        <p:spPr>
          <a:xfrm>
            <a:off x="6561762" y="2990221"/>
            <a:ext cx="24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n = 4, 8, 12, … , 40</a:t>
            </a:r>
            <a:endParaRPr lang="es-ES" sz="1600" dirty="0">
              <a:latin typeface="Atkinson Hyperlegible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D35B28-4765-1783-7824-4647D03C7D21}"/>
              </a:ext>
            </a:extLst>
          </p:cNvPr>
          <p:cNvSpPr txBox="1"/>
          <p:nvPr/>
        </p:nvSpPr>
        <p:spPr>
          <a:xfrm>
            <a:off x="4563663" y="4656496"/>
            <a:ext cx="3457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ANOVA clásico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63DA5-5ED4-120D-660C-A7AB028AA032}"/>
              </a:ext>
            </a:extLst>
          </p:cNvPr>
          <p:cNvSpPr txBox="1"/>
          <p:nvPr/>
        </p:nvSpPr>
        <p:spPr>
          <a:xfrm>
            <a:off x="4540443" y="5474195"/>
            <a:ext cx="2741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Kruskal-Wallis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D0A6E9E-271E-2B65-BCB1-A70E71F70E18}"/>
              </a:ext>
            </a:extLst>
          </p:cNvPr>
          <p:cNvSpPr/>
          <p:nvPr/>
        </p:nvSpPr>
        <p:spPr>
          <a:xfrm>
            <a:off x="2819576" y="1567029"/>
            <a:ext cx="432000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825C618-239D-D34C-1FC1-F7DA6C207BF9}"/>
              </a:ext>
            </a:extLst>
          </p:cNvPr>
          <p:cNvSpPr/>
          <p:nvPr/>
        </p:nvSpPr>
        <p:spPr>
          <a:xfrm>
            <a:off x="5991299" y="1567029"/>
            <a:ext cx="450000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7ECD039-4188-3761-98EB-6C26D6C5D325}"/>
              </a:ext>
            </a:extLst>
          </p:cNvPr>
          <p:cNvSpPr/>
          <p:nvPr/>
        </p:nvSpPr>
        <p:spPr>
          <a:xfrm flipH="1">
            <a:off x="7802107" y="3923505"/>
            <a:ext cx="705600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E15EBA15-635D-7CD0-6401-03EDAF263E15}"/>
              </a:ext>
            </a:extLst>
          </p:cNvPr>
          <p:cNvSpPr/>
          <p:nvPr/>
        </p:nvSpPr>
        <p:spPr>
          <a:xfrm flipH="1">
            <a:off x="3744000" y="3923499"/>
            <a:ext cx="705600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86E046-1122-3CB8-FEC9-D8DF140624D2}"/>
              </a:ext>
            </a:extLst>
          </p:cNvPr>
          <p:cNvSpPr txBox="1"/>
          <p:nvPr/>
        </p:nvSpPr>
        <p:spPr>
          <a:xfrm>
            <a:off x="6537613" y="2583900"/>
            <a:ext cx="260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n = 40 (chequeado)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BECCC5-26C8-1AD1-D6E7-AA8319637D50}"/>
              </a:ext>
            </a:extLst>
          </p:cNvPr>
          <p:cNvSpPr txBox="1"/>
          <p:nvPr/>
        </p:nvSpPr>
        <p:spPr>
          <a:xfrm>
            <a:off x="4540443" y="5064259"/>
            <a:ext cx="3343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ANOVA por permutación</a:t>
            </a:r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45A69B58-C1AF-908A-1379-19081855DD39}"/>
              </a:ext>
            </a:extLst>
          </p:cNvPr>
          <p:cNvSpPr/>
          <p:nvPr/>
        </p:nvSpPr>
        <p:spPr>
          <a:xfrm flipH="1">
            <a:off x="11351779" y="3931161"/>
            <a:ext cx="480221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74D0051-32A2-4118-D4E9-E63023636A2B}"/>
              </a:ext>
            </a:extLst>
          </p:cNvPr>
          <p:cNvSpPr/>
          <p:nvPr/>
        </p:nvSpPr>
        <p:spPr>
          <a:xfrm>
            <a:off x="11832000" y="2295331"/>
            <a:ext cx="220800" cy="1907717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5F7456D-B68B-ABBE-D953-71A26BAA63FA}"/>
              </a:ext>
            </a:extLst>
          </p:cNvPr>
          <p:cNvSpPr/>
          <p:nvPr/>
        </p:nvSpPr>
        <p:spPr>
          <a:xfrm>
            <a:off x="6664381" y="1206687"/>
            <a:ext cx="2160000" cy="9000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TAMAÑO MUESTRAL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1B2E03-5615-77DA-C415-29F35DEA83DC}"/>
              </a:ext>
            </a:extLst>
          </p:cNvPr>
          <p:cNvSpPr txBox="1"/>
          <p:nvPr/>
        </p:nvSpPr>
        <p:spPr>
          <a:xfrm>
            <a:off x="9392909" y="2214568"/>
            <a:ext cx="282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k =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BC791-4CA7-9722-E94B-82B73C9804C8}"/>
              </a:ext>
            </a:extLst>
          </p:cNvPr>
          <p:cNvSpPr txBox="1"/>
          <p:nvPr/>
        </p:nvSpPr>
        <p:spPr>
          <a:xfrm>
            <a:off x="9417054" y="3018925"/>
            <a:ext cx="2423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k = 2, 4, 6, … , 20</a:t>
            </a:r>
            <a:endParaRPr lang="es-ES" sz="1600" dirty="0">
              <a:latin typeface="Atkinson Hyperlegible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8B64AE-4532-1E56-AC70-3F9B9F5E2D59}"/>
              </a:ext>
            </a:extLst>
          </p:cNvPr>
          <p:cNvSpPr txBox="1"/>
          <p:nvPr/>
        </p:nvSpPr>
        <p:spPr>
          <a:xfrm>
            <a:off x="9392905" y="2612604"/>
            <a:ext cx="2827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k = 8 (chequeado)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70987-7FB6-16D4-CC3F-2E219487FE3C}"/>
              </a:ext>
            </a:extLst>
          </p:cNvPr>
          <p:cNvSpPr txBox="1"/>
          <p:nvPr/>
        </p:nvSpPr>
        <p:spPr>
          <a:xfrm>
            <a:off x="8824381" y="4606945"/>
            <a:ext cx="262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Media aritmética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2DF473-B56F-581B-F0CF-C09B4AF418AA}"/>
              </a:ext>
            </a:extLst>
          </p:cNvPr>
          <p:cNvSpPr txBox="1"/>
          <p:nvPr/>
        </p:nvSpPr>
        <p:spPr>
          <a:xfrm>
            <a:off x="8824381" y="5382518"/>
            <a:ext cx="271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Media intercuartílica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8A3CD5-F152-7E7C-2643-BE87717F458E}"/>
              </a:ext>
            </a:extLst>
          </p:cNvPr>
          <p:cNvSpPr txBox="1"/>
          <p:nvPr/>
        </p:nvSpPr>
        <p:spPr>
          <a:xfrm>
            <a:off x="8826033" y="5721846"/>
            <a:ext cx="1499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Mediana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BB2E6F-C739-D837-7C66-67F2DCD3AE75}"/>
              </a:ext>
            </a:extLst>
          </p:cNvPr>
          <p:cNvSpPr txBox="1"/>
          <p:nvPr/>
        </p:nvSpPr>
        <p:spPr>
          <a:xfrm>
            <a:off x="8824381" y="4997874"/>
            <a:ext cx="2627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Media Modificada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2E6507-4FDF-8585-F027-0BF9B6E61251}"/>
              </a:ext>
            </a:extLst>
          </p:cNvPr>
          <p:cNvSpPr txBox="1"/>
          <p:nvPr/>
        </p:nvSpPr>
        <p:spPr>
          <a:xfrm>
            <a:off x="8824381" y="6110348"/>
            <a:ext cx="271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dirty="0">
                <a:latin typeface="Atkinson Hyperlegible" pitchFamily="2" charset="0"/>
              </a:rPr>
              <a:t>Media de Tukey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A4E23A4-32C7-86C8-1A1C-97830109C1E2}"/>
              </a:ext>
            </a:extLst>
          </p:cNvPr>
          <p:cNvSpPr/>
          <p:nvPr/>
        </p:nvSpPr>
        <p:spPr>
          <a:xfrm>
            <a:off x="8996851" y="1516458"/>
            <a:ext cx="450000" cy="365277"/>
          </a:xfrm>
          <a:prstGeom prst="rightArrow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ECB0BB-9591-34F6-5C91-CE570B175745}"/>
              </a:ext>
            </a:extLst>
          </p:cNvPr>
          <p:cNvSpPr/>
          <p:nvPr/>
        </p:nvSpPr>
        <p:spPr>
          <a:xfrm>
            <a:off x="727788" y="5433591"/>
            <a:ext cx="2024743" cy="93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ALINEAR TODO</a:t>
            </a:r>
          </a:p>
        </p:txBody>
      </p:sp>
    </p:spTree>
    <p:extLst>
      <p:ext uri="{BB962C8B-B14F-4D97-AF65-F5344CB8AC3E}">
        <p14:creationId xmlns:p14="http://schemas.microsoft.com/office/powerpoint/2010/main" val="340352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2" grpId="0" animBg="1"/>
      <p:bldP spid="13" grpId="0" animBg="1"/>
      <p:bldP spid="14" grpId="0" animBg="1"/>
      <p:bldP spid="48" grpId="0"/>
      <p:bldP spid="49" grpId="0"/>
      <p:bldP spid="2" grpId="0"/>
      <p:bldP spid="3" grpId="0"/>
      <p:bldP spid="8" grpId="0"/>
      <p:bldP spid="10" grpId="0"/>
      <p:bldP spid="15" grpId="0" animBg="1"/>
      <p:bldP spid="22" grpId="0" animBg="1"/>
      <p:bldP spid="40" grpId="0" animBg="1"/>
      <p:bldP spid="47" grpId="0" animBg="1"/>
      <p:bldP spid="50" grpId="0"/>
      <p:bldP spid="53" grpId="0"/>
      <p:bldP spid="57" grpId="0" animBg="1"/>
      <p:bldP spid="56" grpId="0" animBg="1"/>
      <p:bldP spid="4" grpId="0" animBg="1"/>
      <p:bldP spid="5" grpId="0"/>
      <p:bldP spid="7" grpId="0"/>
      <p:bldP spid="16" grpId="0"/>
      <p:bldP spid="17" grpId="0"/>
      <p:bldP spid="18" grpId="0"/>
      <p:bldP spid="19" grpId="0"/>
      <p:bldP spid="20" grpId="0"/>
      <p:bldP spid="21" grpId="0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F6EFEA-25C6-31F1-F662-5200B191E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4" y="938881"/>
            <a:ext cx="10800000" cy="480837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26C1246-5C3A-50E3-3EFE-4ABFC35B0D1D}"/>
              </a:ext>
            </a:extLst>
          </p:cNvPr>
          <p:cNvSpPr txBox="1"/>
          <p:nvPr/>
        </p:nvSpPr>
        <p:spPr>
          <a:xfrm>
            <a:off x="335901" y="5676509"/>
            <a:ext cx="113180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Las </a:t>
            </a:r>
            <a:r>
              <a:rPr lang="es-ES" dirty="0" err="1"/>
              <a:t>ditribuciones</a:t>
            </a:r>
            <a:r>
              <a:rPr lang="es-ES" dirty="0"/>
              <a:t> simétricas controlan el error tipo I mientras que las asimétricas requieren de medidas de centralidad robustas.</a:t>
            </a:r>
          </a:p>
          <a:p>
            <a:r>
              <a:rPr lang="es-ES" dirty="0"/>
              <a:t>Chequeado para para t, </a:t>
            </a:r>
            <a:r>
              <a:rPr lang="es-ES" dirty="0" err="1"/>
              <a:t>lognormal</a:t>
            </a:r>
            <a:r>
              <a:rPr lang="es-ES" dirty="0"/>
              <a:t>, 8 grupos, tamaño 40, y otras pruebas (</a:t>
            </a:r>
            <a:r>
              <a:rPr lang="es-ES" i="1" dirty="0"/>
              <a:t>Van Der </a:t>
            </a:r>
            <a:r>
              <a:rPr lang="es-ES" i="1" dirty="0" err="1"/>
              <a:t>Waerden</a:t>
            </a:r>
            <a:r>
              <a:rPr lang="es-ES" i="1" dirty="0"/>
              <a:t>, </a:t>
            </a:r>
            <a:r>
              <a:rPr lang="es-ES" i="1" dirty="0" err="1"/>
              <a:t>Mood</a:t>
            </a:r>
            <a:r>
              <a:rPr lang="es-ES" i="1" dirty="0"/>
              <a:t>, MLG con distribución gamma, ANOVA </a:t>
            </a:r>
            <a:r>
              <a:rPr lang="es-ES" i="1" dirty="0" err="1"/>
              <a:t>winzorisado</a:t>
            </a:r>
            <a:r>
              <a:rPr lang="es-ES" i="1" dirty="0"/>
              <a:t>, ANOVA con transformación logaritmo y raíz, ANOVA de </a:t>
            </a:r>
            <a:r>
              <a:rPr lang="es-ES" i="1" dirty="0" err="1"/>
              <a:t>welch</a:t>
            </a:r>
            <a:r>
              <a:rPr lang="es-ES" dirty="0"/>
              <a:t>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893F26-9B43-9354-303A-E2D15B91383F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7FC48728-A023-C650-CE35-67D9DFE1D8BA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MEDIDAS DE CENTRALIDAD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217657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328BA-77E7-508B-8500-9D023A3D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3DA853-6DC1-D4F3-92F8-B015E030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57" y="931125"/>
            <a:ext cx="10800000" cy="4805577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16B7FD7-25E9-4DE1-13F3-E8456798EC73}"/>
              </a:ext>
            </a:extLst>
          </p:cNvPr>
          <p:cNvSpPr txBox="1"/>
          <p:nvPr/>
        </p:nvSpPr>
        <p:spPr>
          <a:xfrm>
            <a:off x="335901" y="5331276"/>
            <a:ext cx="11747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las distribuciones simétricas todas las medidas de centralidad tienen la misma potencia. Para las distribuciones asimétricas las tres medidas robustas tienen la misma potencia.</a:t>
            </a:r>
          </a:p>
          <a:p>
            <a:r>
              <a:rPr lang="es-ES" dirty="0"/>
              <a:t>Chequeado para t, </a:t>
            </a:r>
            <a:r>
              <a:rPr lang="es-ES" dirty="0" err="1"/>
              <a:t>lognormal</a:t>
            </a:r>
            <a:r>
              <a:rPr lang="es-ES" dirty="0"/>
              <a:t>, 8 grupos, tamaño 40, y otras pruebas (</a:t>
            </a:r>
            <a:r>
              <a:rPr lang="es-ES" i="1" dirty="0"/>
              <a:t>Van Der </a:t>
            </a:r>
            <a:r>
              <a:rPr lang="es-ES" i="1" dirty="0" err="1"/>
              <a:t>Waerden</a:t>
            </a:r>
            <a:r>
              <a:rPr lang="es-ES" i="1" dirty="0"/>
              <a:t>, </a:t>
            </a:r>
            <a:r>
              <a:rPr lang="es-ES" i="1" dirty="0" err="1"/>
              <a:t>Mood</a:t>
            </a:r>
            <a:r>
              <a:rPr lang="es-ES" i="1" dirty="0"/>
              <a:t>, MLG con distribución gamma, ANOVA </a:t>
            </a:r>
            <a:r>
              <a:rPr lang="es-ES" i="1" dirty="0" err="1"/>
              <a:t>winzorisado</a:t>
            </a:r>
            <a:r>
              <a:rPr lang="es-ES" i="1" dirty="0"/>
              <a:t>, ANOVA con transformación logaritmo y raíz, ANOVA de </a:t>
            </a:r>
            <a:r>
              <a:rPr lang="es-ES" i="1" dirty="0" err="1"/>
              <a:t>welch</a:t>
            </a:r>
            <a:r>
              <a:rPr lang="es-ES" dirty="0"/>
              <a:t>).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797960-06FC-FD26-92C2-1BD9655DB552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8C8E059B-F38B-1BE2-375B-B344ECAEAEBF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MEDIDAS DE CENTRALIDAD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2644697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57946-74F9-521E-BC60-EE76DC25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02F4FB35-E3B4-77BF-BF1F-FC36E8005C51}"/>
              </a:ext>
            </a:extLst>
          </p:cNvPr>
          <p:cNvSpPr txBox="1"/>
          <p:nvPr/>
        </p:nvSpPr>
        <p:spPr>
          <a:xfrm>
            <a:off x="335902" y="5331276"/>
            <a:ext cx="116446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tamaño 4, las pruebas no controlan el error tipo I. </a:t>
            </a:r>
          </a:p>
          <a:p>
            <a:r>
              <a:rPr lang="es-ES" dirty="0"/>
              <a:t>Para las distribuciones asimétricas </a:t>
            </a:r>
            <a:r>
              <a:rPr lang="es-ES" dirty="0" err="1"/>
              <a:t>Kruskall</a:t>
            </a:r>
            <a:r>
              <a:rPr lang="es-ES" dirty="0"/>
              <a:t>-Wallis no controla el error tipo I</a:t>
            </a:r>
          </a:p>
          <a:p>
            <a:r>
              <a:rPr lang="es-ES" dirty="0"/>
              <a:t>Otras pruebas (ANOVA de Welch, ANOVA con transformación raíz) logran controlar el error tipo I para 4 grupos pero no para 8 o más grupos.</a:t>
            </a:r>
          </a:p>
          <a:p>
            <a:r>
              <a:rPr lang="es-ES" dirty="0"/>
              <a:t>Chequeado para t, </a:t>
            </a:r>
            <a:r>
              <a:rPr lang="es-ES" dirty="0" err="1"/>
              <a:t>lognormal</a:t>
            </a:r>
            <a:r>
              <a:rPr lang="es-ES" dirty="0"/>
              <a:t>, 8 grupos,  y otras pruebas.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AFC49B-1EC8-D328-A71A-176A140D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24" y="961015"/>
            <a:ext cx="10800000" cy="432282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840C3D-B70A-73B9-E904-1322ED5C6845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D2C65EB-1630-B47C-4886-ECDDBA890B64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tkinson Hyperlegible" pitchFamily="2" charset="0"/>
              </a:rPr>
              <a:t>TAMAÑO MUESTRAL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1848982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6CBC-7E7E-58A2-2156-50FEA48A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98847E-4BAF-0095-6814-DF2A74E21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60" y="989008"/>
            <a:ext cx="10800000" cy="432282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5FE1912-AF45-EB12-60E3-BD508AE264D3}"/>
              </a:ext>
            </a:extLst>
          </p:cNvPr>
          <p:cNvSpPr txBox="1"/>
          <p:nvPr/>
        </p:nvSpPr>
        <p:spPr>
          <a:xfrm>
            <a:off x="335902" y="5331276"/>
            <a:ext cx="11062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Para distribuciones simétricas, al incrementarla cantidad de grupo las pruebas se vuelven más conservadoras.</a:t>
            </a:r>
          </a:p>
          <a:p>
            <a:r>
              <a:rPr lang="es-ES" dirty="0"/>
              <a:t>Para la distribución exponencial solo el ANOVA y el ANOVA por permutación controlan el error tipo I.</a:t>
            </a:r>
          </a:p>
          <a:p>
            <a:r>
              <a:rPr lang="es-ES" dirty="0"/>
              <a:t>Chequeado para t, </a:t>
            </a:r>
            <a:r>
              <a:rPr lang="es-ES" dirty="0" err="1"/>
              <a:t>lognormal</a:t>
            </a:r>
            <a:r>
              <a:rPr lang="es-ES" dirty="0"/>
              <a:t>, tamaño 40, y otras pruebas.</a:t>
            </a:r>
          </a:p>
          <a:p>
            <a:endParaRPr lang="es-E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7435DD6-5955-AC83-EC84-E97FB085E445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A0F90467-4B1E-42EA-A56B-551676B9A224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CANTIDAD DE GRUPOS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58890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A274-EF2F-651E-0539-307417BF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E8759A3-0817-46F0-671E-2404A34FED23}"/>
              </a:ext>
            </a:extLst>
          </p:cNvPr>
          <p:cNvSpPr txBox="1"/>
          <p:nvPr/>
        </p:nvSpPr>
        <p:spPr>
          <a:xfrm>
            <a:off x="335902" y="5331276"/>
            <a:ext cx="11062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ANOVA y ANOVA por permutación presentan la misma potencia.</a:t>
            </a:r>
          </a:p>
          <a:p>
            <a:r>
              <a:rPr lang="es-ES" dirty="0"/>
              <a:t>El 80% de potencia se alcanza para sigma = 2 en la distribución normal y cerca de sigma = 3 en la exponencial.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34B59-DEBF-F32C-AAA8-69D52FD48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50" y="963804"/>
            <a:ext cx="10800000" cy="436747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C7AFCF-6A9C-BE85-A107-C56F8D97B11A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673C4CA9-C650-570A-17B1-CAD393B26EFF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TAMAÑO DEL EFECTO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385294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559B60B-98AF-C171-719E-5077166A7EB8}"/>
              </a:ext>
            </a:extLst>
          </p:cNvPr>
          <p:cNvSpPr/>
          <p:nvPr/>
        </p:nvSpPr>
        <p:spPr>
          <a:xfrm>
            <a:off x="1982080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54B2F2D-72E3-99D4-8288-F8246534DCA6}"/>
              </a:ext>
            </a:extLst>
          </p:cNvPr>
          <p:cNvSpPr/>
          <p:nvPr/>
        </p:nvSpPr>
        <p:spPr>
          <a:xfrm>
            <a:off x="2675656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B08E08A-F944-631D-5C96-86BCC54DBA37}"/>
              </a:ext>
            </a:extLst>
          </p:cNvPr>
          <p:cNvSpPr/>
          <p:nvPr/>
        </p:nvSpPr>
        <p:spPr>
          <a:xfrm>
            <a:off x="3369232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0122AF4-D7C3-5BF3-0388-C8C35C9DAACB}"/>
              </a:ext>
            </a:extLst>
          </p:cNvPr>
          <p:cNvSpPr/>
          <p:nvPr/>
        </p:nvSpPr>
        <p:spPr>
          <a:xfrm>
            <a:off x="4062808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12BCCE-10A3-FC1C-4F19-6C9108677A0D}"/>
              </a:ext>
            </a:extLst>
          </p:cNvPr>
          <p:cNvSpPr/>
          <p:nvPr/>
        </p:nvSpPr>
        <p:spPr>
          <a:xfrm>
            <a:off x="4756384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FE0E15-C1E7-8A47-C5DD-4F42FA04E096}"/>
              </a:ext>
            </a:extLst>
          </p:cNvPr>
          <p:cNvSpPr/>
          <p:nvPr/>
        </p:nvSpPr>
        <p:spPr>
          <a:xfrm>
            <a:off x="5449960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D7847FB-FEE7-188C-F2D9-FA33F58002FB}"/>
              </a:ext>
            </a:extLst>
          </p:cNvPr>
          <p:cNvSpPr/>
          <p:nvPr/>
        </p:nvSpPr>
        <p:spPr>
          <a:xfrm>
            <a:off x="6143536" y="1894115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7767E1-76D9-2730-C3EC-0F2D3224E4D0}"/>
              </a:ext>
            </a:extLst>
          </p:cNvPr>
          <p:cNvSpPr/>
          <p:nvPr/>
        </p:nvSpPr>
        <p:spPr>
          <a:xfrm>
            <a:off x="6837112" y="1714115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95E8CE7-C3D9-9B0D-82B9-414494070C1E}"/>
              </a:ext>
            </a:extLst>
          </p:cNvPr>
          <p:cNvSpPr/>
          <p:nvPr/>
        </p:nvSpPr>
        <p:spPr>
          <a:xfrm>
            <a:off x="1989270" y="5358713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65C2A92-337A-160F-DE48-52E511F61F3E}"/>
              </a:ext>
            </a:extLst>
          </p:cNvPr>
          <p:cNvSpPr/>
          <p:nvPr/>
        </p:nvSpPr>
        <p:spPr>
          <a:xfrm>
            <a:off x="2660224" y="5331713"/>
            <a:ext cx="594000" cy="594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4A24DC8-55D7-A9E0-8854-D1869497FC42}"/>
              </a:ext>
            </a:extLst>
          </p:cNvPr>
          <p:cNvSpPr/>
          <p:nvPr/>
        </p:nvSpPr>
        <p:spPr>
          <a:xfrm>
            <a:off x="3324721" y="5294205"/>
            <a:ext cx="648000" cy="648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15327D4-0F8E-4F27-B647-445BCECB3F7F}"/>
              </a:ext>
            </a:extLst>
          </p:cNvPr>
          <p:cNvSpPr/>
          <p:nvPr/>
        </p:nvSpPr>
        <p:spPr>
          <a:xfrm>
            <a:off x="4080160" y="5267580"/>
            <a:ext cx="702000" cy="702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A5B6163-EF5F-16E4-FDCA-D73B5E476F66}"/>
              </a:ext>
            </a:extLst>
          </p:cNvPr>
          <p:cNvSpPr/>
          <p:nvPr/>
        </p:nvSpPr>
        <p:spPr>
          <a:xfrm>
            <a:off x="4852657" y="5264021"/>
            <a:ext cx="738000" cy="738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DD88E8D-71FA-D39F-B3CD-507CB282B323}"/>
              </a:ext>
            </a:extLst>
          </p:cNvPr>
          <p:cNvSpPr/>
          <p:nvPr/>
        </p:nvSpPr>
        <p:spPr>
          <a:xfrm>
            <a:off x="5681465" y="5232713"/>
            <a:ext cx="792000" cy="792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822E3CE-5F07-5ED9-56EB-26611BBD3879}"/>
              </a:ext>
            </a:extLst>
          </p:cNvPr>
          <p:cNvSpPr/>
          <p:nvPr/>
        </p:nvSpPr>
        <p:spPr>
          <a:xfrm>
            <a:off x="6521396" y="5205713"/>
            <a:ext cx="846000" cy="846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FDB7CAF-3ECB-6C4B-BF31-68D86B9D7D51}"/>
              </a:ext>
            </a:extLst>
          </p:cNvPr>
          <p:cNvSpPr/>
          <p:nvPr/>
        </p:nvSpPr>
        <p:spPr>
          <a:xfrm>
            <a:off x="7427652" y="5168205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>
              <a:latin typeface="Atkinson Hyperlegible" pitchFamily="2" charset="0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CD162D4-184C-D44E-F8D1-F7A361D72930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Diagonal Corners Snipped 51">
            <a:extLst>
              <a:ext uri="{FF2B5EF4-FFF2-40B4-BE49-F238E27FC236}">
                <a16:creationId xmlns:a16="http://schemas.microsoft.com/office/drawing/2014/main" id="{AD3FA372-5213-15D1-AC2A-BE451EB026B1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PATRÓN DE LOS DESVÍOS</a:t>
            </a:r>
            <a:endParaRPr lang="es-ES" sz="3600" b="1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1093C5-20C7-F574-B971-3651699A23BF}"/>
              </a:ext>
            </a:extLst>
          </p:cNvPr>
          <p:cNvSpPr/>
          <p:nvPr/>
        </p:nvSpPr>
        <p:spPr>
          <a:xfrm>
            <a:off x="1243881" y="1187120"/>
            <a:ext cx="2510808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UNO DISTINTO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3CC3F3-83AC-AF57-828E-6B5500275932}"/>
              </a:ext>
            </a:extLst>
          </p:cNvPr>
          <p:cNvSpPr/>
          <p:nvPr/>
        </p:nvSpPr>
        <p:spPr>
          <a:xfrm>
            <a:off x="1244384" y="2765969"/>
            <a:ext cx="2510808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MITAD DISTINTOS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C05110-7534-D69E-997D-D223AEC6A066}"/>
              </a:ext>
            </a:extLst>
          </p:cNvPr>
          <p:cNvSpPr/>
          <p:nvPr/>
        </p:nvSpPr>
        <p:spPr>
          <a:xfrm>
            <a:off x="1972336" y="3503816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1E05C4-3D12-ADD7-8A33-2F8097E1ADCF}"/>
              </a:ext>
            </a:extLst>
          </p:cNvPr>
          <p:cNvSpPr/>
          <p:nvPr/>
        </p:nvSpPr>
        <p:spPr>
          <a:xfrm>
            <a:off x="2665912" y="3503816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D83D1A-C92B-0C42-9863-B47E4B806CC7}"/>
              </a:ext>
            </a:extLst>
          </p:cNvPr>
          <p:cNvSpPr/>
          <p:nvPr/>
        </p:nvSpPr>
        <p:spPr>
          <a:xfrm>
            <a:off x="3359488" y="3503816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DAE428-6873-3CD3-066A-E7346F8ECACC}"/>
              </a:ext>
            </a:extLst>
          </p:cNvPr>
          <p:cNvSpPr/>
          <p:nvPr/>
        </p:nvSpPr>
        <p:spPr>
          <a:xfrm>
            <a:off x="4053064" y="3503816"/>
            <a:ext cx="540000" cy="540000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485934-0EF6-AD14-7D58-A4A228BF2827}"/>
              </a:ext>
            </a:extLst>
          </p:cNvPr>
          <p:cNvSpPr/>
          <p:nvPr/>
        </p:nvSpPr>
        <p:spPr>
          <a:xfrm>
            <a:off x="4746640" y="3323816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002EBA-2F81-AF25-F9E8-A60184020D7A}"/>
              </a:ext>
            </a:extLst>
          </p:cNvPr>
          <p:cNvSpPr/>
          <p:nvPr/>
        </p:nvSpPr>
        <p:spPr>
          <a:xfrm>
            <a:off x="5756902" y="3323816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DF2B07-E1CB-74B5-7E3A-E316BB111FAF}"/>
              </a:ext>
            </a:extLst>
          </p:cNvPr>
          <p:cNvSpPr/>
          <p:nvPr/>
        </p:nvSpPr>
        <p:spPr>
          <a:xfrm>
            <a:off x="6767164" y="3323816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2760C8-E66E-2213-6311-CF745F4D6397}"/>
              </a:ext>
            </a:extLst>
          </p:cNvPr>
          <p:cNvSpPr/>
          <p:nvPr/>
        </p:nvSpPr>
        <p:spPr>
          <a:xfrm>
            <a:off x="7777426" y="3323816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3600" b="1" dirty="0">
              <a:latin typeface="Atkinson Hyperlegible" pitchFamily="2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C3E31D-9C06-2A6B-0C55-6B73E28401BD}"/>
              </a:ext>
            </a:extLst>
          </p:cNvPr>
          <p:cNvSpPr/>
          <p:nvPr/>
        </p:nvSpPr>
        <p:spPr>
          <a:xfrm>
            <a:off x="1278490" y="4426157"/>
            <a:ext cx="2510808" cy="421200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latin typeface="Atkinson Hyperlegible" pitchFamily="2" charset="0"/>
              </a:rPr>
              <a:t>TODOS DISTINTOS</a:t>
            </a:r>
          </a:p>
        </p:txBody>
      </p:sp>
    </p:spTree>
    <p:extLst>
      <p:ext uri="{BB962C8B-B14F-4D97-AF65-F5344CB8AC3E}">
        <p14:creationId xmlns:p14="http://schemas.microsoft.com/office/powerpoint/2010/main" val="252020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A854C-87ED-A41D-A12E-2EA7692E1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E6A4D7-51EE-36C0-67AD-BD499D016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6657"/>
            <a:ext cx="9423918" cy="468131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7063F533-5E9F-9769-D8D4-ABACB746310E}"/>
              </a:ext>
            </a:extLst>
          </p:cNvPr>
          <p:cNvSpPr txBox="1"/>
          <p:nvPr/>
        </p:nvSpPr>
        <p:spPr>
          <a:xfrm>
            <a:off x="335902" y="5331276"/>
            <a:ext cx="11062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En todos los casos cuando todos los desvíos son distintos la potencia disminuye. </a:t>
            </a:r>
          </a:p>
          <a:p>
            <a:r>
              <a:rPr lang="es-ES" dirty="0"/>
              <a:t>Cuando la mitad de los desvíos son diferentes, se observa una mayor potencia si hay al menos 8 grupos.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4ADEC05-7918-DC58-CEC6-2282907D6FE7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D7C7B1EC-75CA-9721-1561-6166D7BCA908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PATRÓN DE LOS DESVÍOS</a:t>
            </a:r>
            <a:endParaRPr lang="es-E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C12D07-32D9-7EBB-F0F4-57DE5147D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808" y="1904787"/>
            <a:ext cx="2248214" cy="15242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0411C5-BE9A-C639-6EC7-A4C0FF45E7E9}"/>
              </a:ext>
            </a:extLst>
          </p:cNvPr>
          <p:cNvSpPr/>
          <p:nvPr/>
        </p:nvSpPr>
        <p:spPr>
          <a:xfrm>
            <a:off x="9759820" y="3526971"/>
            <a:ext cx="2080727" cy="15242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ARREGLAR GRAFICO PARA MOSTRAR LEYENDA CORRECTAMENTE</a:t>
            </a:r>
          </a:p>
        </p:txBody>
      </p:sp>
    </p:spTree>
    <p:extLst>
      <p:ext uri="{BB962C8B-B14F-4D97-AF65-F5344CB8AC3E}">
        <p14:creationId xmlns:p14="http://schemas.microsoft.com/office/powerpoint/2010/main" val="576229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3FAF3D5-2257-1478-4045-D04C42639BCD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Diagonal Corners Snipped 4">
            <a:extLst>
              <a:ext uri="{FF2B5EF4-FFF2-40B4-BE49-F238E27FC236}">
                <a16:creationId xmlns:a16="http://schemas.microsoft.com/office/drawing/2014/main" id="{9C60D945-BDAD-CC24-6AD9-04A61E931932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VALORES ATÍPICOS</a:t>
            </a:r>
            <a:endParaRPr lang="es-ES" sz="3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C3542C-AB5C-18E0-C0CF-D8A5C71701F0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091685" y="3337982"/>
            <a:ext cx="2699697" cy="16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4980CE-5158-8131-B9A6-15AC420EFF4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16671" y="3337982"/>
            <a:ext cx="2700000" cy="16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C5BB54D-7D31-8457-3E43-8DBC75B9CD2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48831" y="3337982"/>
            <a:ext cx="2700000" cy="16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F1643B5A-2F64-C831-62CD-ABF07ED3FC42}"/>
              </a:ext>
            </a:extLst>
          </p:cNvPr>
          <p:cNvSpPr/>
          <p:nvPr/>
        </p:nvSpPr>
        <p:spPr>
          <a:xfrm>
            <a:off x="3672122" y="3860221"/>
            <a:ext cx="601709" cy="605440"/>
          </a:xfrm>
          <a:prstGeom prst="plus">
            <a:avLst>
              <a:gd name="adj" fmla="val 40466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>
              <a:latin typeface="Atkinson Hyperlegible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456CA-845A-2400-D6E3-4FF02B6A7199}"/>
              </a:ext>
            </a:extLst>
          </p:cNvPr>
          <p:cNvSpPr/>
          <p:nvPr/>
        </p:nvSpPr>
        <p:spPr>
          <a:xfrm>
            <a:off x="7890802" y="4237958"/>
            <a:ext cx="609600" cy="173182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>
              <a:latin typeface="Atkinson Hyperlegible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AE93B4-435D-EEE7-26F9-F26B7A1E85E5}"/>
              </a:ext>
            </a:extLst>
          </p:cNvPr>
          <p:cNvSpPr/>
          <p:nvPr/>
        </p:nvSpPr>
        <p:spPr>
          <a:xfrm>
            <a:off x="7886189" y="3983961"/>
            <a:ext cx="609600" cy="173182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>
              <a:latin typeface="Atkinson Hyperlegible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4FE7F-51DE-202D-D8F8-02FD123F3526}"/>
                  </a:ext>
                </a:extLst>
              </p:cNvPr>
              <p:cNvSpPr txBox="1"/>
              <p:nvPr/>
            </p:nvSpPr>
            <p:spPr>
              <a:xfrm>
                <a:off x="3672122" y="1654384"/>
                <a:ext cx="53956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  +   </m:t>
                      </m:r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𝝓</m:t>
                      </m:r>
                      <m:d>
                        <m:d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𝝁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4F4FE7F-51DE-202D-D8F8-02FD123F3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122" y="1654384"/>
                <a:ext cx="5395643" cy="276999"/>
              </a:xfrm>
              <a:prstGeom prst="rect">
                <a:avLst/>
              </a:prstGeom>
              <a:blipFill>
                <a:blip r:embed="rId5"/>
                <a:stretch>
                  <a:fillRect l="-226" t="-2174" b="-3260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FF2AD67C-9575-878A-086A-34AFB5A5070F}"/>
                  </a:ext>
                </a:extLst>
              </p:cNvPr>
              <p:cNvSpPr/>
              <p:nvPr/>
            </p:nvSpPr>
            <p:spPr>
              <a:xfrm>
                <a:off x="179382" y="3117858"/>
                <a:ext cx="1080000" cy="421200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b="1" dirty="0">
                  <a:latin typeface="Atkinson Hyperlegible" pitchFamily="2" charset="0"/>
                </a:endParaRPr>
              </a:p>
            </p:txBody>
          </p:sp>
        </mc:Choice>
        <mc:Fallback xmlns=""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FF2AD67C-9575-878A-086A-34AFB5A50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382" y="3117858"/>
                <a:ext cx="1080000" cy="421200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2B81BB9-14CE-30A2-AB65-E12DA97B296B}"/>
                  </a:ext>
                </a:extLst>
              </p:cNvPr>
              <p:cNvSpPr/>
              <p:nvPr/>
            </p:nvSpPr>
            <p:spPr>
              <a:xfrm>
                <a:off x="3984744" y="3117858"/>
                <a:ext cx="1080000" cy="421200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b="1" dirty="0">
                  <a:latin typeface="Atkinson Hyperlegible" pitchFamily="2" charset="0"/>
                </a:endParaRPr>
              </a:p>
            </p:txBody>
          </p:sp>
        </mc:Choice>
        <mc:Fallback xmlns=""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2B81BB9-14CE-30A2-AB65-E12DA97B29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744" y="3117858"/>
                <a:ext cx="1080000" cy="421200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A085AFF-A4B9-A633-FB0A-4FCC67E0A029}"/>
                  </a:ext>
                </a:extLst>
              </p:cNvPr>
              <p:cNvSpPr/>
              <p:nvPr/>
            </p:nvSpPr>
            <p:spPr>
              <a:xfrm>
                <a:off x="8570605" y="3122481"/>
                <a:ext cx="1080000" cy="421200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ES" b="1" dirty="0">
                  <a:latin typeface="Atkinson Hyperlegible" pitchFamily="2" charset="0"/>
                </a:endParaRPr>
              </a:p>
            </p:txBody>
          </p:sp>
        </mc:Choice>
        <mc:Fallback xmlns=""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AA085AFF-A4B9-A633-FB0A-4FCC67E0A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605" y="3122481"/>
                <a:ext cx="1080000" cy="421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EA968A-BFC8-B13E-3184-52A53C94F350}"/>
                  </a:ext>
                </a:extLst>
              </p:cNvPr>
              <p:cNvSpPr txBox="1"/>
              <p:nvPr/>
            </p:nvSpPr>
            <p:spPr>
              <a:xfrm>
                <a:off x="224288" y="1411017"/>
                <a:ext cx="2783711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 :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peso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de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la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poblaci</m:t>
                      </m:r>
                      <m:r>
                        <a:rPr lang="es-ES" b="0" i="0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m:rPr>
                          <m:sty m:val="p"/>
                        </m:rPr>
                        <a:rPr lang="es-E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s-ES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ES" b="1" i="1">
                        <a:latin typeface="Cambria Math" panose="02040503050406030204" pitchFamily="18" charset="0"/>
                      </a:rPr>
                      <m:t>𝝓</m:t>
                    </m:r>
                    <m:d>
                      <m:d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𝝁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</m:d>
                    <m:r>
                      <a:rPr lang="es-E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" dirty="0">
                    <a:latin typeface="Cambria Math" panose="02040503050406030204" pitchFamily="18" charset="0"/>
                  </a:rPr>
                  <a:t>:función de densidad de una normal.</a:t>
                </a:r>
              </a:p>
              <a:p>
                <a:endParaRPr lang="es-ES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BEA968A-BFC8-B13E-3184-52A53C94F3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8" y="1411017"/>
                <a:ext cx="2783711" cy="1107996"/>
              </a:xfrm>
              <a:prstGeom prst="rect">
                <a:avLst/>
              </a:prstGeom>
              <a:blipFill>
                <a:blip r:embed="rId9"/>
                <a:stretch>
                  <a:fillRect l="-5263" t="-549" r="-4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7E16F0F7-04FE-74BE-DEDC-946D8031FCA2}"/>
              </a:ext>
            </a:extLst>
          </p:cNvPr>
          <p:cNvSpPr/>
          <p:nvPr/>
        </p:nvSpPr>
        <p:spPr>
          <a:xfrm>
            <a:off x="2219417" y="5974672"/>
            <a:ext cx="2485748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En </a:t>
            </a:r>
            <a:r>
              <a:rPr lang="es-ES" dirty="0" err="1"/>
              <a:t>construccion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3683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/>
      <p:bldP spid="16" grpId="0" animBg="1"/>
      <p:bldP spid="17" grpId="0" animBg="1"/>
      <p:bldP spid="18" grpId="0" animBg="1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5819-A07A-BD31-CAA4-043F62698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A8666C98-4858-9753-0554-F9291C1A6894}"/>
              </a:ext>
            </a:extLst>
          </p:cNvPr>
          <p:cNvSpPr txBox="1"/>
          <p:nvPr/>
        </p:nvSpPr>
        <p:spPr>
          <a:xfrm>
            <a:off x="335902" y="5331276"/>
            <a:ext cx="11062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Ambas pruebas presentan comportamientos similares.</a:t>
            </a:r>
          </a:p>
          <a:p>
            <a:r>
              <a:rPr lang="es-ES" dirty="0"/>
              <a:t>Para tamaño N=20 se muestran robustos con contaminaciones de hasta 2%.</a:t>
            </a:r>
          </a:p>
          <a:p>
            <a:r>
              <a:rPr lang="es-ES" dirty="0"/>
              <a:t>Para tamaño N=40 las pruebas son robustas para hasta 1%.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676BCCB-104B-5130-3FB2-411237B3EEF2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7FD4BEC8-92AE-B2E9-2233-30F92D93D0E6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VALORES ATÍPICOS</a:t>
            </a:r>
            <a:endParaRPr lang="es-ES" sz="3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74F6C2-2443-1389-5C44-D2E68B204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77" y="963804"/>
            <a:ext cx="10800000" cy="436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83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FF6179-5903-81CE-DA31-75697CC784C4}"/>
              </a:ext>
            </a:extLst>
          </p:cNvPr>
          <p:cNvSpPr txBox="1"/>
          <p:nvPr/>
        </p:nvSpPr>
        <p:spPr>
          <a:xfrm>
            <a:off x="598899" y="1138335"/>
            <a:ext cx="111763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mayoría de las medidas de centralidad y pruebas resultan apropiadas cuando la distribución original es robusta.</a:t>
            </a:r>
          </a:p>
          <a:p>
            <a:endParaRPr lang="es-ES" dirty="0"/>
          </a:p>
          <a:p>
            <a:r>
              <a:rPr lang="es-ES" dirty="0"/>
              <a:t>Sin embargo, se recomienda utilizar la mediana (u otra medida robusta) debido a que resulta adecuada para en distribuciones asimétricas y presenta la misma potencia que la media </a:t>
            </a:r>
            <a:r>
              <a:rPr lang="es-ES" dirty="0" err="1"/>
              <a:t>artimética</a:t>
            </a:r>
            <a:r>
              <a:rPr lang="es-ES" dirty="0"/>
              <a:t> en distribuciones simétricas.</a:t>
            </a:r>
          </a:p>
          <a:p>
            <a:endParaRPr lang="es-ES" dirty="0"/>
          </a:p>
          <a:p>
            <a:r>
              <a:rPr lang="es-ES" dirty="0"/>
              <a:t>De entre las 11 pruebas consideradas solo el ANOVA y el ANOVA por permutación lograron controlar el error tipo I para distintos tamaños muestrales (N&gt;=8) y cantidad de grupos (k  entre 2 y 20).</a:t>
            </a:r>
          </a:p>
          <a:p>
            <a:endParaRPr lang="es-ES" dirty="0"/>
          </a:p>
          <a:p>
            <a:r>
              <a:rPr lang="es-ES" dirty="0"/>
              <a:t>Ambas pruebas, para un tamaño N=20, alcanzan el 80% de potencia para sigma=2 (Normal) y sigma =3 (Exponencial)</a:t>
            </a:r>
          </a:p>
          <a:p>
            <a:endParaRPr lang="es-ES" dirty="0"/>
          </a:p>
          <a:p>
            <a:r>
              <a:rPr lang="es-ES" dirty="0"/>
              <a:t>Las pruebas incrementan su potencia cuando la mitad de los grupos poseen un desvío común y la otra mitad otro. </a:t>
            </a:r>
          </a:p>
          <a:p>
            <a:endParaRPr lang="es-ES" dirty="0"/>
          </a:p>
          <a:p>
            <a:r>
              <a:rPr lang="es-ES" dirty="0"/>
              <a:t>La potencia de las pruebas disminuye mucho cuando todos los grupos tienen desvíos diferentes.</a:t>
            </a:r>
          </a:p>
          <a:p>
            <a:endParaRPr lang="es-ES" dirty="0"/>
          </a:p>
          <a:p>
            <a:r>
              <a:rPr lang="es-ES" dirty="0"/>
              <a:t>Las pruebas no son robustas frente a valores atípicos y se conjetura que tampoco frente a diferencias distribucionales.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0F0967-DA54-1DE1-BA8C-BF917B2D2C9C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1132B5E5-0941-D888-98CE-3AE6D904F2DC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b="1" dirty="0">
                <a:latin typeface="Atkinson Hyperlegible" pitchFamily="2" charset="0"/>
              </a:rPr>
              <a:t>CONCLUSIÓN</a:t>
            </a:r>
            <a:endParaRPr lang="es-ES" sz="3600" b="1" dirty="0"/>
          </a:p>
        </p:txBody>
      </p:sp>
    </p:spTree>
    <p:extLst>
      <p:ext uri="{BB962C8B-B14F-4D97-AF65-F5344CB8AC3E}">
        <p14:creationId xmlns:p14="http://schemas.microsoft.com/office/powerpoint/2010/main" val="15044493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EA8B6C-BF8F-283E-C8F5-BE1531669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9220"/>
            <a:ext cx="12192000" cy="406371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4B507F-94E9-309D-E89E-5C9093A96EFE}"/>
              </a:ext>
            </a:extLst>
          </p:cNvPr>
          <p:cNvCxnSpPr>
            <a:cxnSpLocks/>
          </p:cNvCxnSpPr>
          <p:nvPr/>
        </p:nvCxnSpPr>
        <p:spPr>
          <a:xfrm>
            <a:off x="209550" y="893763"/>
            <a:ext cx="12028362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F19688E-431D-67DB-1151-1589B41619CB}"/>
              </a:ext>
            </a:extLst>
          </p:cNvPr>
          <p:cNvSpPr/>
          <p:nvPr/>
        </p:nvSpPr>
        <p:spPr>
          <a:xfrm>
            <a:off x="0" y="0"/>
            <a:ext cx="6705600" cy="903288"/>
          </a:xfrm>
          <a:prstGeom prst="snip2Diag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/>
              <a:t>¡MUCHAS GRACIAS!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49299C-5E55-4FAE-F87B-520F65311A25}"/>
              </a:ext>
            </a:extLst>
          </p:cNvPr>
          <p:cNvSpPr/>
          <p:nvPr/>
        </p:nvSpPr>
        <p:spPr>
          <a:xfrm>
            <a:off x="1803817" y="1495636"/>
            <a:ext cx="3600000" cy="809625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PREGUNTAS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8F51D6-BDF9-025B-9E8A-624D56DC9637}"/>
              </a:ext>
            </a:extLst>
          </p:cNvPr>
          <p:cNvSpPr/>
          <p:nvPr/>
        </p:nvSpPr>
        <p:spPr>
          <a:xfrm>
            <a:off x="6796073" y="2653388"/>
            <a:ext cx="3600000" cy="809625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CRÍTICAS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C9C895-8320-ACE0-51AA-646F27E2BC90}"/>
              </a:ext>
            </a:extLst>
          </p:cNvPr>
          <p:cNvSpPr/>
          <p:nvPr/>
        </p:nvSpPr>
        <p:spPr>
          <a:xfrm>
            <a:off x="1933129" y="3862453"/>
            <a:ext cx="3600000" cy="809625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OPINIONES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319564-7903-DC8A-6BDD-E47D8A14BD21}"/>
              </a:ext>
            </a:extLst>
          </p:cNvPr>
          <p:cNvSpPr/>
          <p:nvPr/>
        </p:nvSpPr>
        <p:spPr>
          <a:xfrm>
            <a:off x="6523602" y="5236362"/>
            <a:ext cx="3600000" cy="809625"/>
          </a:xfrm>
          <a:prstGeom prst="roundRect">
            <a:avLst/>
          </a:pr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/>
              <a:t>COMENTARIOS</a:t>
            </a:r>
          </a:p>
        </p:txBody>
      </p:sp>
    </p:spTree>
    <p:extLst>
      <p:ext uri="{BB962C8B-B14F-4D97-AF65-F5344CB8AC3E}">
        <p14:creationId xmlns:p14="http://schemas.microsoft.com/office/powerpoint/2010/main" val="340096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13998</TotalTime>
  <Words>1145</Words>
  <Application>Microsoft Office PowerPoint</Application>
  <PresentationFormat>Widescreen</PresentationFormat>
  <Paragraphs>180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Atkinson Hyperlegible</vt:lpstr>
      <vt:lpstr>Calibri</vt:lpstr>
      <vt:lpstr>Calibri Light</vt:lpstr>
      <vt:lpstr>Cambria Math</vt:lpstr>
      <vt:lpstr>Wingdings</vt:lpstr>
      <vt:lpstr>Office Theme</vt:lpstr>
      <vt:lpstr>UN ESTUDIO SOBRE LA PRUEBA DE LEVENE Y ALGUNAS DE SUS VARIANTES</vt:lpstr>
      <vt:lpstr>UN ESTUDIO SOBRE LA PRUEBA DE LEVENE Y ALGUNAS DE SUS VARIANTES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Andres Villarruel</dc:creator>
  <cp:lastModifiedBy>Eduardo Andres Villarruel</cp:lastModifiedBy>
  <cp:revision>5</cp:revision>
  <dcterms:created xsi:type="dcterms:W3CDTF">2026-09-03T00:57:25Z</dcterms:created>
  <dcterms:modified xsi:type="dcterms:W3CDTF">2026-09-24T23:55:20Z</dcterms:modified>
</cp:coreProperties>
</file>